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6" r:id="rId9"/>
    <p:sldId id="267"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78490" autoAdjust="0"/>
  </p:normalViewPr>
  <p:slideViewPr>
    <p:cSldViewPr snapToGrid="0" snapToObjects="1">
      <p:cViewPr varScale="1">
        <p:scale>
          <a:sx n="63" d="100"/>
          <a:sy n="63" d="100"/>
        </p:scale>
        <p:origin x="6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489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to validate with the team: current re-request rate, current completion and cost per verification, device and language mix, and who performs the assisted leg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0B866-074C-7B11-48B2-F9BB65817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63216-C62F-8DE0-DFCB-15524DDD3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8ACAA-75AB-9AAC-566C-9A55C4431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0F9458-F667-B94E-BB4D-F124A5C9F4F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86706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509AE-818C-E0F5-63D1-683F85CBE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0F419-3D26-DC74-D3BE-980F89FAB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10DC1-D385-D398-01BA-58DEFD8F4E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1EF4C0-621E-E614-FCE2-B4A85E5ED24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51104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sources confirms that the borrower is at the premises today. They establish that an address exists and is associated with the name. Premises capture answers the different question - is this person there now - and RBI prescribes no document for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through-line: the ring width, the weight given to the coordinate, and the confidence ceiling all move with premises type. What never moves is that no branch rejects anyone.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capture also constrains scheduling to trading hours - a shuttered shop at 9pm evidences nothing. That is the inverse of the residential case, where night windows were added deliberately for inclusion.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jjwal-lang.github.io/Declared-Premises-Verification-for-loa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ujjwal-lang.github.io/Declared-Premises-Verification-for-loan/"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www.esri.in/en-in/newsroom/blog/what-is-digipin" TargetMode="External"/><Relationship Id="rId3" Type="http://schemas.openxmlformats.org/officeDocument/2006/relationships/hyperlink" Target="https://www.rbi.org.in/Scripts/BS_ViewMasDirections.aspx" TargetMode="External"/><Relationship Id="rId7" Type="http://schemas.openxmlformats.org/officeDocument/2006/relationships/hyperlink" Target="https://authbridge.com/solutions/digital-address-verification/?ref_page=solutions/digital-address-verificatio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ckycindia.in/ckyc/assets/doc/Operating_Guidelines_version1.5.pdf" TargetMode="External"/><Relationship Id="rId5" Type="http://schemas.openxmlformats.org/officeDocument/2006/relationships/hyperlink" Target="https://www.bajajfinserv.in/home-loan-kyc-documents" TargetMode="External"/><Relationship Id="rId4" Type="http://schemas.openxmlformats.org/officeDocument/2006/relationships/hyperlink" Target="https://mimoiq.com/everything-you-need-to-know-about-contact-point-verification-in-india/" TargetMode="External"/><Relationship Id="rId9" Type="http://schemas.openxmlformats.org/officeDocument/2006/relationships/hyperlink" Target="https://www.indiapost.gov.in/digipin"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66928" y="667512"/>
            <a:ext cx="9692640" cy="914400"/>
          </a:xfrm>
          <a:prstGeom prst="rect">
            <a:avLst/>
          </a:prstGeom>
          <a:noFill/>
          <a:ln/>
        </p:spPr>
        <p:txBody>
          <a:bodyPr wrap="square" lIns="0" tIns="0" rIns="0" bIns="0" rtlCol="0" anchor="ctr"/>
          <a:lstStyle/>
          <a:p>
            <a:pPr marL="0" indent="0">
              <a:buNone/>
            </a:pPr>
            <a:r>
              <a:rPr lang="en-US" sz="4200" b="1" dirty="0">
                <a:latin typeface="Cambria" panose="02040503050406030204" pitchFamily="18" charset="0"/>
                <a:ea typeface="Cambria" panose="02040503050406030204" pitchFamily="18" charset="0"/>
                <a:cs typeface="Cambria" pitchFamily="34" charset="-120"/>
              </a:rPr>
              <a:t>Customer-led premises verification</a:t>
            </a:r>
            <a:endParaRPr lang="en-US" sz="4200" dirty="0">
              <a:latin typeface="Cambria" panose="02040503050406030204" pitchFamily="18" charset="0"/>
              <a:ea typeface="Cambria" panose="02040503050406030204" pitchFamily="18" charset="0"/>
            </a:endParaRPr>
          </a:p>
        </p:txBody>
      </p:sp>
      <p:sp>
        <p:nvSpPr>
          <p:cNvPr id="3" name="Text 1"/>
          <p:cNvSpPr txBox="1"/>
          <p:nvPr/>
        </p:nvSpPr>
        <p:spPr>
          <a:xfrm>
            <a:off x="566928" y="1645920"/>
            <a:ext cx="9326880" cy="457200"/>
          </a:xfrm>
          <a:prstGeom prst="rect">
            <a:avLst/>
          </a:prstGeom>
          <a:noFill/>
          <a:ln/>
        </p:spPr>
        <p:txBody>
          <a:bodyPr wrap="square" lIns="0" tIns="0" rIns="0" bIns="0" rtlCol="0" anchor="ctr"/>
          <a:lstStyle/>
          <a:p>
            <a:pPr marL="0" indent="0">
              <a:buNone/>
            </a:pPr>
            <a:r>
              <a:rPr lang="en-US" sz="1700" dirty="0">
                <a:latin typeface="Cambria" panose="02040503050406030204" pitchFamily="18" charset="0"/>
                <a:ea typeface="Cambria" panose="02040503050406030204" pitchFamily="18" charset="0"/>
                <a:cs typeface="Calibri" pitchFamily="34" charset="-120"/>
              </a:rPr>
              <a:t>A self-serve mobile journey for residential and business premises, adjudicated by machine</a:t>
            </a:r>
            <a:endParaRPr lang="en-US" sz="1700" dirty="0">
              <a:latin typeface="Cambria" panose="02040503050406030204" pitchFamily="18" charset="0"/>
              <a:ea typeface="Cambria" panose="02040503050406030204" pitchFamily="18" charset="0"/>
            </a:endParaRPr>
          </a:p>
        </p:txBody>
      </p:sp>
      <p:sp>
        <p:nvSpPr>
          <p:cNvPr id="4" name="Shape 2"/>
          <p:cNvSpPr/>
          <p:nvPr/>
        </p:nvSpPr>
        <p:spPr>
          <a:xfrm>
            <a:off x="566928" y="2830068"/>
            <a:ext cx="3493008" cy="1417320"/>
          </a:xfrm>
          <a:prstGeom prst="roundRect">
            <a:avLst>
              <a:gd name="adj" fmla="val 5161"/>
            </a:avLst>
          </a:prstGeom>
          <a:solidFill>
            <a:schemeClr val="accent2">
              <a:lumMod val="20000"/>
              <a:lumOff val="80000"/>
            </a:schemeClr>
          </a:solidFill>
          <a:ln/>
        </p:spPr>
      </p:sp>
      <p:sp>
        <p:nvSpPr>
          <p:cNvPr id="5" name="Text 3"/>
          <p:cNvSpPr txBox="1"/>
          <p:nvPr/>
        </p:nvSpPr>
        <p:spPr>
          <a:xfrm>
            <a:off x="822960" y="3022092"/>
            <a:ext cx="3017520" cy="457200"/>
          </a:xfrm>
          <a:prstGeom prst="rect">
            <a:avLst/>
          </a:prstGeom>
          <a:solidFill>
            <a:schemeClr val="accent2">
              <a:lumMod val="20000"/>
              <a:lumOff val="80000"/>
            </a:schemeClr>
          </a:solidFill>
          <a:ln/>
        </p:spPr>
        <p:txBody>
          <a:bodyPr wrap="square" lIns="0" tIns="0" rIns="0" bIns="0" rtlCol="0" anchor="t"/>
          <a:lstStyle/>
          <a:p>
            <a:pPr marL="0" indent="0">
              <a:buNone/>
            </a:pPr>
            <a:r>
              <a:rPr lang="en-US" sz="1600" b="1" dirty="0">
                <a:latin typeface="Cambria" panose="02040503050406030204" pitchFamily="18" charset="0"/>
                <a:ea typeface="Cambria" panose="02040503050406030204" pitchFamily="18" charset="0"/>
                <a:cs typeface="Calibri" pitchFamily="34" charset="-120"/>
              </a:rPr>
              <a:t>No human reviews a submission</a:t>
            </a:r>
            <a:endParaRPr lang="en-US" sz="1600" dirty="0">
              <a:latin typeface="Cambria" panose="02040503050406030204" pitchFamily="18" charset="0"/>
              <a:ea typeface="Cambria" panose="02040503050406030204" pitchFamily="18" charset="0"/>
            </a:endParaRPr>
          </a:p>
        </p:txBody>
      </p:sp>
      <p:sp>
        <p:nvSpPr>
          <p:cNvPr id="6" name="Text 4"/>
          <p:cNvSpPr txBox="1"/>
          <p:nvPr/>
        </p:nvSpPr>
        <p:spPr>
          <a:xfrm>
            <a:off x="822960" y="3534156"/>
            <a:ext cx="3017520" cy="603504"/>
          </a:xfrm>
          <a:prstGeom prst="rect">
            <a:avLst/>
          </a:prstGeom>
          <a:solidFill>
            <a:schemeClr val="accent2">
              <a:lumMod val="20000"/>
              <a:lumOff val="80000"/>
            </a:schemeClr>
          </a:solidFill>
          <a:ln/>
        </p:spPr>
        <p:txBody>
          <a:bodyPr wrap="square" lIns="0" tIns="0" rIns="0" bIns="0" rtlCol="0" anchor="t"/>
          <a:lstStyle/>
          <a:p>
            <a:pPr marL="0" indent="0">
              <a:buNone/>
            </a:pPr>
            <a:r>
              <a:rPr lang="en-US" sz="1400" dirty="0">
                <a:latin typeface="Cambria" panose="02040503050406030204" pitchFamily="18" charset="0"/>
                <a:ea typeface="Cambria" panose="02040503050406030204" pitchFamily="18" charset="0"/>
                <a:cs typeface="Calibri" pitchFamily="34" charset="-120"/>
              </a:rPr>
              <a:t>Machines adjudicate; humans audit in aggregate</a:t>
            </a:r>
            <a:endParaRPr lang="en-US" sz="1400" dirty="0">
              <a:latin typeface="Cambria" panose="02040503050406030204" pitchFamily="18" charset="0"/>
              <a:ea typeface="Cambria" panose="02040503050406030204" pitchFamily="18" charset="0"/>
            </a:endParaRPr>
          </a:p>
        </p:txBody>
      </p:sp>
      <p:sp>
        <p:nvSpPr>
          <p:cNvPr id="7" name="Shape 5"/>
          <p:cNvSpPr/>
          <p:nvPr/>
        </p:nvSpPr>
        <p:spPr>
          <a:xfrm>
            <a:off x="4279392" y="2830068"/>
            <a:ext cx="3493008" cy="1417320"/>
          </a:xfrm>
          <a:prstGeom prst="roundRect">
            <a:avLst>
              <a:gd name="adj" fmla="val 5161"/>
            </a:avLst>
          </a:prstGeom>
          <a:solidFill>
            <a:schemeClr val="accent2">
              <a:lumMod val="20000"/>
              <a:lumOff val="80000"/>
            </a:schemeClr>
          </a:solidFill>
          <a:ln/>
        </p:spPr>
      </p:sp>
      <p:sp>
        <p:nvSpPr>
          <p:cNvPr id="8" name="Text 6"/>
          <p:cNvSpPr txBox="1"/>
          <p:nvPr/>
        </p:nvSpPr>
        <p:spPr>
          <a:xfrm>
            <a:off x="4535424" y="3022092"/>
            <a:ext cx="3017520" cy="457200"/>
          </a:xfrm>
          <a:prstGeom prst="rect">
            <a:avLst/>
          </a:prstGeom>
          <a:solidFill>
            <a:schemeClr val="accent2">
              <a:lumMod val="20000"/>
              <a:lumOff val="80000"/>
            </a:schemeClr>
          </a:solidFill>
          <a:ln/>
        </p:spPr>
        <p:txBody>
          <a:bodyPr wrap="square" lIns="0" tIns="0" rIns="0" bIns="0" rtlCol="0" anchor="t"/>
          <a:lstStyle/>
          <a:p>
            <a:pPr marL="0" indent="0">
              <a:buNone/>
            </a:pPr>
            <a:r>
              <a:rPr lang="en-US" sz="1600" b="1" dirty="0">
                <a:latin typeface="Cambria" panose="02040503050406030204" pitchFamily="18" charset="0"/>
                <a:ea typeface="Cambria" panose="02040503050406030204" pitchFamily="18" charset="0"/>
                <a:cs typeface="Calibri" pitchFamily="34" charset="-120"/>
              </a:rPr>
              <a:t>Residential and business</a:t>
            </a:r>
            <a:endParaRPr lang="en-US" sz="1600" dirty="0">
              <a:latin typeface="Cambria" panose="02040503050406030204" pitchFamily="18" charset="0"/>
              <a:ea typeface="Cambria" panose="02040503050406030204" pitchFamily="18" charset="0"/>
            </a:endParaRPr>
          </a:p>
        </p:txBody>
      </p:sp>
      <p:sp>
        <p:nvSpPr>
          <p:cNvPr id="9" name="Text 7"/>
          <p:cNvSpPr txBox="1"/>
          <p:nvPr/>
        </p:nvSpPr>
        <p:spPr>
          <a:xfrm>
            <a:off x="4535424" y="3534156"/>
            <a:ext cx="3017520" cy="603504"/>
          </a:xfrm>
          <a:prstGeom prst="rect">
            <a:avLst/>
          </a:prstGeom>
          <a:solidFill>
            <a:schemeClr val="accent2">
              <a:lumMod val="20000"/>
              <a:lumOff val="80000"/>
            </a:schemeClr>
          </a:solidFill>
          <a:ln/>
        </p:spPr>
        <p:txBody>
          <a:bodyPr wrap="square" lIns="0" tIns="0" rIns="0" bIns="0" rtlCol="0" anchor="t"/>
          <a:lstStyle/>
          <a:p>
            <a:pPr marL="0" indent="0">
              <a:buNone/>
            </a:pPr>
            <a:r>
              <a:rPr lang="en-US" sz="1400" dirty="0">
                <a:latin typeface="Cambria" panose="02040503050406030204" pitchFamily="18" charset="0"/>
                <a:ea typeface="Cambria" panose="02040503050406030204" pitchFamily="18" charset="0"/>
                <a:cs typeface="Calibri" pitchFamily="34" charset="-120"/>
              </a:rPr>
              <a:t>One journey, four branches, five personas</a:t>
            </a:r>
            <a:endParaRPr lang="en-US" sz="1400" dirty="0">
              <a:latin typeface="Cambria" panose="02040503050406030204" pitchFamily="18" charset="0"/>
              <a:ea typeface="Cambria" panose="02040503050406030204" pitchFamily="18" charset="0"/>
            </a:endParaRPr>
          </a:p>
        </p:txBody>
      </p:sp>
      <p:sp>
        <p:nvSpPr>
          <p:cNvPr id="10" name="Shape 8"/>
          <p:cNvSpPr/>
          <p:nvPr/>
        </p:nvSpPr>
        <p:spPr>
          <a:xfrm>
            <a:off x="7991856" y="2830068"/>
            <a:ext cx="3493008" cy="1417320"/>
          </a:xfrm>
          <a:prstGeom prst="roundRect">
            <a:avLst>
              <a:gd name="adj" fmla="val 5161"/>
            </a:avLst>
          </a:prstGeom>
          <a:solidFill>
            <a:schemeClr val="accent2">
              <a:lumMod val="20000"/>
              <a:lumOff val="80000"/>
            </a:schemeClr>
          </a:solidFill>
          <a:ln/>
        </p:spPr>
      </p:sp>
      <p:sp>
        <p:nvSpPr>
          <p:cNvPr id="11" name="Text 9"/>
          <p:cNvSpPr txBox="1"/>
          <p:nvPr/>
        </p:nvSpPr>
        <p:spPr>
          <a:xfrm>
            <a:off x="8247888" y="3022092"/>
            <a:ext cx="3017520" cy="457200"/>
          </a:xfrm>
          <a:prstGeom prst="rect">
            <a:avLst/>
          </a:prstGeom>
          <a:solidFill>
            <a:schemeClr val="accent2">
              <a:lumMod val="20000"/>
              <a:lumOff val="80000"/>
            </a:schemeClr>
          </a:solidFill>
          <a:ln/>
        </p:spPr>
        <p:txBody>
          <a:bodyPr wrap="square" lIns="0" tIns="0" rIns="0" bIns="0" rtlCol="0" anchor="t"/>
          <a:lstStyle/>
          <a:p>
            <a:pPr marL="0" indent="0">
              <a:buNone/>
            </a:pPr>
            <a:r>
              <a:rPr lang="en-US" sz="1600" b="1" dirty="0">
                <a:latin typeface="Cambria" panose="02040503050406030204" pitchFamily="18" charset="0"/>
                <a:ea typeface="Cambria" panose="02040503050406030204" pitchFamily="18" charset="0"/>
                <a:cs typeface="Calibri" pitchFamily="34" charset="-120"/>
              </a:rPr>
              <a:t>Built for failure, not the happy path</a:t>
            </a:r>
            <a:endParaRPr lang="en-US" sz="1600" dirty="0">
              <a:latin typeface="Cambria" panose="02040503050406030204" pitchFamily="18" charset="0"/>
              <a:ea typeface="Cambria" panose="02040503050406030204" pitchFamily="18" charset="0"/>
            </a:endParaRPr>
          </a:p>
        </p:txBody>
      </p:sp>
      <p:sp>
        <p:nvSpPr>
          <p:cNvPr id="12" name="Text 10"/>
          <p:cNvSpPr txBox="1"/>
          <p:nvPr/>
        </p:nvSpPr>
        <p:spPr>
          <a:xfrm>
            <a:off x="8247888" y="3534156"/>
            <a:ext cx="3017520" cy="603504"/>
          </a:xfrm>
          <a:prstGeom prst="rect">
            <a:avLst/>
          </a:prstGeom>
          <a:solidFill>
            <a:schemeClr val="accent2">
              <a:lumMod val="20000"/>
              <a:lumOff val="80000"/>
            </a:schemeClr>
          </a:solidFill>
          <a:ln/>
        </p:spPr>
        <p:txBody>
          <a:bodyPr wrap="square" lIns="0" tIns="0" rIns="0" bIns="0" rtlCol="0" anchor="t"/>
          <a:lstStyle/>
          <a:p>
            <a:pPr marL="0" indent="0">
              <a:buNone/>
            </a:pPr>
            <a:r>
              <a:rPr lang="en-US" sz="1400" dirty="0">
                <a:latin typeface="Cambria" panose="02040503050406030204" pitchFamily="18" charset="0"/>
                <a:ea typeface="Cambria" panose="02040503050406030204" pitchFamily="18" charset="0"/>
                <a:cs typeface="Calibri" pitchFamily="34" charset="-120"/>
              </a:rPr>
              <a:t>Every branch exits to a rail, never a dead end</a:t>
            </a:r>
            <a:endParaRPr lang="en-US" sz="1400" dirty="0">
              <a:latin typeface="Cambria" panose="02040503050406030204" pitchFamily="18" charset="0"/>
              <a:ea typeface="Cambria" panose="02040503050406030204" pitchFamily="18" charset="0"/>
            </a:endParaRPr>
          </a:p>
        </p:txBody>
      </p:sp>
      <p:sp>
        <p:nvSpPr>
          <p:cNvPr id="13" name="Text 11"/>
          <p:cNvSpPr txBox="1"/>
          <p:nvPr/>
        </p:nvSpPr>
        <p:spPr>
          <a:xfrm>
            <a:off x="566928" y="5597652"/>
            <a:ext cx="5486400" cy="274320"/>
          </a:xfrm>
          <a:prstGeom prst="rect">
            <a:avLst/>
          </a:prstGeom>
          <a:noFill/>
          <a:ln/>
        </p:spPr>
        <p:txBody>
          <a:bodyPr wrap="square" lIns="0" tIns="0" rIns="0" bIns="0" rtlCol="0" anchor="ctr"/>
          <a:lstStyle/>
          <a:p>
            <a:pPr marL="0" indent="0">
              <a:buNone/>
            </a:pPr>
            <a:r>
              <a:rPr lang="en-US" sz="1600" dirty="0">
                <a:latin typeface="Cambria" panose="02040503050406030204" pitchFamily="18" charset="0"/>
                <a:ea typeface="Cambria" panose="02040503050406030204" pitchFamily="18" charset="0"/>
                <a:cs typeface="Calibri" pitchFamily="34" charset="-120"/>
              </a:rPr>
              <a:t>Product case</a:t>
            </a:r>
            <a:endParaRPr lang="en-US" sz="1600" dirty="0">
              <a:latin typeface="Cambria" panose="02040503050406030204" pitchFamily="18" charset="0"/>
              <a:ea typeface="Cambria" panose="02040503050406030204" pitchFamily="18" charset="0"/>
            </a:endParaRPr>
          </a:p>
        </p:txBody>
      </p:sp>
      <p:sp>
        <p:nvSpPr>
          <p:cNvPr id="14" name="Text 12"/>
          <p:cNvSpPr txBox="1"/>
          <p:nvPr/>
        </p:nvSpPr>
        <p:spPr>
          <a:xfrm>
            <a:off x="566928" y="5951982"/>
            <a:ext cx="7315200" cy="274320"/>
          </a:xfrm>
          <a:prstGeom prst="rect">
            <a:avLst/>
          </a:prstGeom>
          <a:noFill/>
          <a:ln/>
        </p:spPr>
        <p:txBody>
          <a:bodyPr wrap="square" lIns="0" tIns="0" rIns="0" bIns="0" rtlCol="0" anchor="ctr"/>
          <a:lstStyle/>
          <a:p>
            <a:pPr marL="0" indent="0">
              <a:buNone/>
            </a:pPr>
            <a:r>
              <a:rPr lang="en-US" sz="1600" dirty="0">
                <a:latin typeface="Cambria" panose="02040503050406030204" pitchFamily="18" charset="0"/>
                <a:ea typeface="Cambria" panose="02040503050406030204" pitchFamily="18" charset="0"/>
                <a:cs typeface="Calibri" pitchFamily="34" charset="-120"/>
              </a:rPr>
              <a:t>Author: Ujjwal Padha</a:t>
            </a:r>
            <a:endParaRPr lang="en-US" sz="1600" dirty="0">
              <a:latin typeface="Cambria" panose="02040503050406030204" pitchFamily="18" charset="0"/>
              <a:ea typeface="Cambria" panose="02040503050406030204" pitchFamily="18" charset="0"/>
            </a:endParaRPr>
          </a:p>
        </p:txBody>
      </p:sp>
      <p:sp>
        <p:nvSpPr>
          <p:cNvPr id="16" name="Text 12">
            <a:extLst>
              <a:ext uri="{FF2B5EF4-FFF2-40B4-BE49-F238E27FC236}">
                <a16:creationId xmlns:a16="http://schemas.microsoft.com/office/drawing/2014/main" id="{5EA6CBE2-168D-F8F1-2826-786AA8676906}"/>
              </a:ext>
            </a:extLst>
          </p:cNvPr>
          <p:cNvSpPr txBox="1"/>
          <p:nvPr/>
        </p:nvSpPr>
        <p:spPr>
          <a:xfrm>
            <a:off x="566928" y="6306312"/>
            <a:ext cx="7315200" cy="274320"/>
          </a:xfrm>
          <a:prstGeom prst="rect">
            <a:avLst/>
          </a:prstGeom>
          <a:noFill/>
          <a:ln/>
        </p:spPr>
        <p:txBody>
          <a:bodyPr wrap="square" lIns="0" tIns="0" rIns="0" bIns="0" rtlCol="0" anchor="ctr"/>
          <a:lstStyle/>
          <a:p>
            <a:pPr marL="0" indent="0">
              <a:buNone/>
            </a:pPr>
            <a:r>
              <a:rPr lang="en-US" sz="1600" dirty="0" err="1">
                <a:latin typeface="Cambria" panose="02040503050406030204" pitchFamily="18" charset="0"/>
                <a:ea typeface="Cambria" panose="02040503050406030204" pitchFamily="18" charset="0"/>
                <a:cs typeface="Calibri" pitchFamily="34" charset="-120"/>
                <a:hlinkClick r:id="rId3"/>
              </a:rPr>
              <a:t>Working_prototype_link</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Today the lender owns neither the capture nor the evidence</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The case describes a customer who already self-serves. What fails is everything around the photo.</a:t>
            </a:r>
            <a:endParaRPr lang="en-US" sz="1400" dirty="0">
              <a:latin typeface="Cambria" panose="02040503050406030204" pitchFamily="18" charset="0"/>
              <a:ea typeface="Cambria" panose="02040503050406030204" pitchFamily="18" charset="0"/>
            </a:endParaRPr>
          </a:p>
        </p:txBody>
      </p:sp>
      <p:sp>
        <p:nvSpPr>
          <p:cNvPr id="4" name="Shape 2"/>
          <p:cNvSpPr/>
          <p:nvPr/>
        </p:nvSpPr>
        <p:spPr>
          <a:xfrm>
            <a:off x="566928" y="1481328"/>
            <a:ext cx="2029968" cy="1234440"/>
          </a:xfrm>
          <a:prstGeom prst="roundRect">
            <a:avLst>
              <a:gd name="adj" fmla="val 5926"/>
            </a:avLst>
          </a:prstGeom>
          <a:solidFill>
            <a:srgbClr val="EDF1F1"/>
          </a:solidFill>
          <a:ln/>
        </p:spPr>
      </p:sp>
      <p:sp>
        <p:nvSpPr>
          <p:cNvPr id="5" name="Text 3"/>
          <p:cNvSpPr txBox="1"/>
          <p:nvPr/>
        </p:nvSpPr>
        <p:spPr>
          <a:xfrm>
            <a:off x="713232" y="1609344"/>
            <a:ext cx="1737360" cy="292608"/>
          </a:xfrm>
          <a:prstGeom prst="rect">
            <a:avLst/>
          </a:prstGeom>
          <a:noFill/>
          <a:ln/>
        </p:spPr>
        <p:txBody>
          <a:bodyPr wrap="square" lIns="0" tIns="0" rIns="0" bIns="0" rtlCol="0" anchor="ctr"/>
          <a:lstStyle/>
          <a:p>
            <a:pPr marL="0" indent="0">
              <a:buNone/>
            </a:pPr>
            <a:r>
              <a:rPr lang="en-US" sz="1600" b="1" dirty="0">
                <a:solidFill>
                  <a:srgbClr val="2E7D74"/>
                </a:solidFill>
                <a:latin typeface="Cambria" panose="02040503050406030204" pitchFamily="18" charset="0"/>
                <a:ea typeface="Cambria" panose="02040503050406030204" pitchFamily="18" charset="0"/>
                <a:cs typeface="Calibri" pitchFamily="34" charset="-120"/>
              </a:rPr>
              <a:t>Ask</a:t>
            </a:r>
            <a:endParaRPr lang="en-US" sz="1600" dirty="0">
              <a:latin typeface="Cambria" panose="02040503050406030204" pitchFamily="18" charset="0"/>
              <a:ea typeface="Cambria" panose="02040503050406030204" pitchFamily="18" charset="0"/>
            </a:endParaRPr>
          </a:p>
        </p:txBody>
      </p:sp>
      <p:sp>
        <p:nvSpPr>
          <p:cNvPr id="6" name="Text 4"/>
          <p:cNvSpPr txBox="1"/>
          <p:nvPr/>
        </p:nvSpPr>
        <p:spPr>
          <a:xfrm>
            <a:off x="713232" y="1920240"/>
            <a:ext cx="1737360" cy="713232"/>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Sales rep explains over call or WhatsApp</a:t>
            </a:r>
            <a:endParaRPr lang="en-US" sz="1200" dirty="0">
              <a:latin typeface="Cambria" panose="02040503050406030204" pitchFamily="18" charset="0"/>
              <a:ea typeface="Cambria" panose="02040503050406030204" pitchFamily="18" charset="0"/>
            </a:endParaRPr>
          </a:p>
        </p:txBody>
      </p:sp>
      <p:sp>
        <p:nvSpPr>
          <p:cNvPr id="7" name="Text 5"/>
          <p:cNvSpPr txBox="1"/>
          <p:nvPr/>
        </p:nvSpPr>
        <p:spPr>
          <a:xfrm>
            <a:off x="2596896" y="1938528"/>
            <a:ext cx="228600" cy="320040"/>
          </a:xfrm>
          <a:prstGeom prst="rect">
            <a:avLst/>
          </a:prstGeom>
          <a:noFill/>
          <a:ln/>
        </p:spPr>
        <p:txBody>
          <a:bodyPr wrap="square" lIns="0" tIns="0" rIns="0" bIns="0" rtlCol="0" anchor="ctr"/>
          <a:lstStyle/>
          <a:p>
            <a:pPr marL="0" indent="0" algn="ctr">
              <a:buNone/>
            </a:pPr>
            <a:r>
              <a:rPr lang="en-US" sz="1500" b="1" dirty="0">
                <a:solidFill>
                  <a:srgbClr val="C2571A"/>
                </a:solidFill>
                <a:latin typeface="Cambria" panose="02040503050406030204" pitchFamily="18" charset="0"/>
                <a:ea typeface="Cambria" panose="02040503050406030204" pitchFamily="18" charset="0"/>
                <a:cs typeface="Calibri" pitchFamily="34" charset="-120"/>
              </a:rPr>
              <a:t>→</a:t>
            </a:r>
            <a:endParaRPr lang="en-US" sz="1500" dirty="0">
              <a:latin typeface="Cambria" panose="02040503050406030204" pitchFamily="18" charset="0"/>
              <a:ea typeface="Cambria" panose="02040503050406030204" pitchFamily="18" charset="0"/>
            </a:endParaRPr>
          </a:p>
        </p:txBody>
      </p:sp>
      <p:sp>
        <p:nvSpPr>
          <p:cNvPr id="8" name="Shape 6"/>
          <p:cNvSpPr/>
          <p:nvPr/>
        </p:nvSpPr>
        <p:spPr>
          <a:xfrm>
            <a:off x="2825496" y="1481328"/>
            <a:ext cx="2029968" cy="1234440"/>
          </a:xfrm>
          <a:prstGeom prst="roundRect">
            <a:avLst>
              <a:gd name="adj" fmla="val 5926"/>
            </a:avLst>
          </a:prstGeom>
          <a:solidFill>
            <a:srgbClr val="EDF1F1"/>
          </a:solidFill>
          <a:ln/>
        </p:spPr>
      </p:sp>
      <p:sp>
        <p:nvSpPr>
          <p:cNvPr id="9" name="Text 7"/>
          <p:cNvSpPr txBox="1"/>
          <p:nvPr/>
        </p:nvSpPr>
        <p:spPr>
          <a:xfrm>
            <a:off x="2971800" y="1609344"/>
            <a:ext cx="1737360" cy="292608"/>
          </a:xfrm>
          <a:prstGeom prst="rect">
            <a:avLst/>
          </a:prstGeom>
          <a:noFill/>
          <a:ln/>
        </p:spPr>
        <p:txBody>
          <a:bodyPr wrap="square" lIns="0" tIns="0" rIns="0" bIns="0" rtlCol="0" anchor="ctr"/>
          <a:lstStyle/>
          <a:p>
            <a:pPr marL="0" indent="0">
              <a:buNone/>
            </a:pPr>
            <a:r>
              <a:rPr lang="en-US" sz="1600" b="1" dirty="0">
                <a:solidFill>
                  <a:srgbClr val="2E7D74"/>
                </a:solidFill>
                <a:latin typeface="Cambria" panose="02040503050406030204" pitchFamily="18" charset="0"/>
                <a:ea typeface="Cambria" panose="02040503050406030204" pitchFamily="18" charset="0"/>
                <a:cs typeface="Calibri" pitchFamily="34" charset="-120"/>
              </a:rPr>
              <a:t>Hunt</a:t>
            </a:r>
            <a:endParaRPr lang="en-US" sz="1600" dirty="0">
              <a:latin typeface="Cambria" panose="02040503050406030204" pitchFamily="18" charset="0"/>
              <a:ea typeface="Cambria" panose="02040503050406030204" pitchFamily="18" charset="0"/>
            </a:endParaRPr>
          </a:p>
        </p:txBody>
      </p:sp>
      <p:sp>
        <p:nvSpPr>
          <p:cNvPr id="10" name="Text 8"/>
          <p:cNvSpPr txBox="1"/>
          <p:nvPr/>
        </p:nvSpPr>
        <p:spPr>
          <a:xfrm>
            <a:off x="2971800" y="1920240"/>
            <a:ext cx="1737360" cy="713232"/>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Customer finds a third-party GPS camera app</a:t>
            </a:r>
            <a:endParaRPr lang="en-US" sz="1200" dirty="0">
              <a:latin typeface="Cambria" panose="02040503050406030204" pitchFamily="18" charset="0"/>
              <a:ea typeface="Cambria" panose="02040503050406030204" pitchFamily="18" charset="0"/>
            </a:endParaRPr>
          </a:p>
        </p:txBody>
      </p:sp>
      <p:sp>
        <p:nvSpPr>
          <p:cNvPr id="11" name="Text 9"/>
          <p:cNvSpPr txBox="1"/>
          <p:nvPr/>
        </p:nvSpPr>
        <p:spPr>
          <a:xfrm>
            <a:off x="4855464" y="1938528"/>
            <a:ext cx="228600" cy="320040"/>
          </a:xfrm>
          <a:prstGeom prst="rect">
            <a:avLst/>
          </a:prstGeom>
          <a:noFill/>
          <a:ln/>
        </p:spPr>
        <p:txBody>
          <a:bodyPr wrap="square" lIns="0" tIns="0" rIns="0" bIns="0" rtlCol="0" anchor="ctr"/>
          <a:lstStyle/>
          <a:p>
            <a:pPr marL="0" indent="0" algn="ctr">
              <a:buNone/>
            </a:pPr>
            <a:r>
              <a:rPr lang="en-US" sz="1500" b="1" dirty="0">
                <a:solidFill>
                  <a:srgbClr val="C2571A"/>
                </a:solidFill>
                <a:latin typeface="Cambria" panose="02040503050406030204" pitchFamily="18" charset="0"/>
                <a:ea typeface="Cambria" panose="02040503050406030204" pitchFamily="18" charset="0"/>
                <a:cs typeface="Calibri" pitchFamily="34" charset="-120"/>
              </a:rPr>
              <a:t>→</a:t>
            </a:r>
            <a:endParaRPr lang="en-US" sz="1500" dirty="0">
              <a:latin typeface="Cambria" panose="02040503050406030204" pitchFamily="18" charset="0"/>
              <a:ea typeface="Cambria" panose="02040503050406030204" pitchFamily="18" charset="0"/>
            </a:endParaRPr>
          </a:p>
        </p:txBody>
      </p:sp>
      <p:sp>
        <p:nvSpPr>
          <p:cNvPr id="12" name="Shape 10"/>
          <p:cNvSpPr/>
          <p:nvPr/>
        </p:nvSpPr>
        <p:spPr>
          <a:xfrm>
            <a:off x="5084064" y="1481328"/>
            <a:ext cx="2029968" cy="1234440"/>
          </a:xfrm>
          <a:prstGeom prst="roundRect">
            <a:avLst>
              <a:gd name="adj" fmla="val 5926"/>
            </a:avLst>
          </a:prstGeom>
          <a:solidFill>
            <a:srgbClr val="EDF1F1"/>
          </a:solidFill>
          <a:ln/>
        </p:spPr>
      </p:sp>
      <p:sp>
        <p:nvSpPr>
          <p:cNvPr id="13" name="Text 11"/>
          <p:cNvSpPr txBox="1"/>
          <p:nvPr/>
        </p:nvSpPr>
        <p:spPr>
          <a:xfrm>
            <a:off x="5230368" y="1609344"/>
            <a:ext cx="1737360" cy="292608"/>
          </a:xfrm>
          <a:prstGeom prst="rect">
            <a:avLst/>
          </a:prstGeom>
          <a:noFill/>
          <a:ln/>
        </p:spPr>
        <p:txBody>
          <a:bodyPr wrap="square" lIns="0" tIns="0" rIns="0" bIns="0" rtlCol="0" anchor="ctr"/>
          <a:lstStyle/>
          <a:p>
            <a:pPr marL="0" indent="0">
              <a:buNone/>
            </a:pPr>
            <a:r>
              <a:rPr lang="en-US" sz="1600" b="1" dirty="0">
                <a:solidFill>
                  <a:srgbClr val="2E7D74"/>
                </a:solidFill>
                <a:latin typeface="Cambria" panose="02040503050406030204" pitchFamily="18" charset="0"/>
                <a:ea typeface="Cambria" panose="02040503050406030204" pitchFamily="18" charset="0"/>
                <a:cs typeface="Calibri" pitchFamily="34" charset="-120"/>
              </a:rPr>
              <a:t>Send</a:t>
            </a:r>
            <a:endParaRPr lang="en-US" sz="1600" dirty="0">
              <a:latin typeface="Cambria" panose="02040503050406030204" pitchFamily="18" charset="0"/>
              <a:ea typeface="Cambria" panose="02040503050406030204" pitchFamily="18" charset="0"/>
            </a:endParaRPr>
          </a:p>
        </p:txBody>
      </p:sp>
      <p:sp>
        <p:nvSpPr>
          <p:cNvPr id="14" name="Text 12"/>
          <p:cNvSpPr txBox="1"/>
          <p:nvPr/>
        </p:nvSpPr>
        <p:spPr>
          <a:xfrm>
            <a:off x="5230368" y="1920240"/>
            <a:ext cx="1737360" cy="713232"/>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Photo shared informally on WhatsApp</a:t>
            </a:r>
            <a:endParaRPr lang="en-US" sz="1200" dirty="0">
              <a:latin typeface="Cambria" panose="02040503050406030204" pitchFamily="18" charset="0"/>
              <a:ea typeface="Cambria" panose="02040503050406030204" pitchFamily="18" charset="0"/>
            </a:endParaRPr>
          </a:p>
        </p:txBody>
      </p:sp>
      <p:sp>
        <p:nvSpPr>
          <p:cNvPr id="15" name="Text 13"/>
          <p:cNvSpPr txBox="1"/>
          <p:nvPr/>
        </p:nvSpPr>
        <p:spPr>
          <a:xfrm>
            <a:off x="7114032" y="1938528"/>
            <a:ext cx="228600" cy="320040"/>
          </a:xfrm>
          <a:prstGeom prst="rect">
            <a:avLst/>
          </a:prstGeom>
          <a:noFill/>
          <a:ln/>
        </p:spPr>
        <p:txBody>
          <a:bodyPr wrap="square" lIns="0" tIns="0" rIns="0" bIns="0" rtlCol="0" anchor="ctr"/>
          <a:lstStyle/>
          <a:p>
            <a:pPr marL="0" indent="0" algn="ctr">
              <a:buNone/>
            </a:pPr>
            <a:r>
              <a:rPr lang="en-US" sz="1500" b="1" dirty="0">
                <a:solidFill>
                  <a:srgbClr val="C2571A"/>
                </a:solidFill>
                <a:latin typeface="Cambria" panose="02040503050406030204" pitchFamily="18" charset="0"/>
                <a:ea typeface="Cambria" panose="02040503050406030204" pitchFamily="18" charset="0"/>
                <a:cs typeface="Calibri" pitchFamily="34" charset="-120"/>
              </a:rPr>
              <a:t>→</a:t>
            </a:r>
            <a:endParaRPr lang="en-US" sz="1500" dirty="0">
              <a:latin typeface="Cambria" panose="02040503050406030204" pitchFamily="18" charset="0"/>
              <a:ea typeface="Cambria" panose="02040503050406030204" pitchFamily="18" charset="0"/>
            </a:endParaRPr>
          </a:p>
        </p:txBody>
      </p:sp>
      <p:sp>
        <p:nvSpPr>
          <p:cNvPr id="16" name="Shape 14"/>
          <p:cNvSpPr/>
          <p:nvPr/>
        </p:nvSpPr>
        <p:spPr>
          <a:xfrm>
            <a:off x="7342632" y="1481328"/>
            <a:ext cx="2029968" cy="1234440"/>
          </a:xfrm>
          <a:prstGeom prst="roundRect">
            <a:avLst>
              <a:gd name="adj" fmla="val 5926"/>
            </a:avLst>
          </a:prstGeom>
          <a:solidFill>
            <a:srgbClr val="EDF1F1"/>
          </a:solidFill>
          <a:ln/>
        </p:spPr>
      </p:sp>
      <p:sp>
        <p:nvSpPr>
          <p:cNvPr id="17" name="Text 15"/>
          <p:cNvSpPr txBox="1"/>
          <p:nvPr/>
        </p:nvSpPr>
        <p:spPr>
          <a:xfrm>
            <a:off x="7488936" y="1609344"/>
            <a:ext cx="1737360" cy="292608"/>
          </a:xfrm>
          <a:prstGeom prst="rect">
            <a:avLst/>
          </a:prstGeom>
          <a:noFill/>
          <a:ln/>
        </p:spPr>
        <p:txBody>
          <a:bodyPr wrap="square" lIns="0" tIns="0" rIns="0" bIns="0" rtlCol="0" anchor="ctr"/>
          <a:lstStyle/>
          <a:p>
            <a:pPr marL="0" indent="0">
              <a:buNone/>
            </a:pPr>
            <a:r>
              <a:rPr lang="en-US" sz="1600" b="1" dirty="0">
                <a:solidFill>
                  <a:srgbClr val="2E7D74"/>
                </a:solidFill>
                <a:latin typeface="Cambria" panose="02040503050406030204" pitchFamily="18" charset="0"/>
                <a:ea typeface="Cambria" panose="02040503050406030204" pitchFamily="18" charset="0"/>
                <a:cs typeface="Calibri" pitchFamily="34" charset="-120"/>
              </a:rPr>
              <a:t>Degrade</a:t>
            </a:r>
            <a:endParaRPr lang="en-US" sz="1600" dirty="0">
              <a:latin typeface="Cambria" panose="02040503050406030204" pitchFamily="18" charset="0"/>
              <a:ea typeface="Cambria" panose="02040503050406030204" pitchFamily="18" charset="0"/>
            </a:endParaRPr>
          </a:p>
        </p:txBody>
      </p:sp>
      <p:sp>
        <p:nvSpPr>
          <p:cNvPr id="18" name="Text 16"/>
          <p:cNvSpPr txBox="1"/>
          <p:nvPr/>
        </p:nvSpPr>
        <p:spPr>
          <a:xfrm>
            <a:off x="7488936" y="1920240"/>
            <a:ext cx="1737360" cy="713232"/>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EXIF stripped, image compressed in transit</a:t>
            </a:r>
            <a:endParaRPr lang="en-US" sz="1200" dirty="0">
              <a:latin typeface="Cambria" panose="02040503050406030204" pitchFamily="18" charset="0"/>
              <a:ea typeface="Cambria" panose="02040503050406030204" pitchFamily="18" charset="0"/>
            </a:endParaRPr>
          </a:p>
        </p:txBody>
      </p:sp>
      <p:sp>
        <p:nvSpPr>
          <p:cNvPr id="19" name="Text 17"/>
          <p:cNvSpPr txBox="1"/>
          <p:nvPr/>
        </p:nvSpPr>
        <p:spPr>
          <a:xfrm>
            <a:off x="9372600" y="1938528"/>
            <a:ext cx="228600" cy="320040"/>
          </a:xfrm>
          <a:prstGeom prst="rect">
            <a:avLst/>
          </a:prstGeom>
          <a:noFill/>
          <a:ln/>
        </p:spPr>
        <p:txBody>
          <a:bodyPr wrap="square" lIns="0" tIns="0" rIns="0" bIns="0" rtlCol="0" anchor="ctr"/>
          <a:lstStyle/>
          <a:p>
            <a:pPr marL="0" indent="0" algn="ctr">
              <a:buNone/>
            </a:pPr>
            <a:r>
              <a:rPr lang="en-US" sz="1500" b="1" dirty="0">
                <a:solidFill>
                  <a:srgbClr val="C2571A"/>
                </a:solidFill>
                <a:latin typeface="Cambria" panose="02040503050406030204" pitchFamily="18" charset="0"/>
                <a:ea typeface="Cambria" panose="02040503050406030204" pitchFamily="18" charset="0"/>
                <a:cs typeface="Calibri" pitchFamily="34" charset="-120"/>
              </a:rPr>
              <a:t>→</a:t>
            </a:r>
            <a:endParaRPr lang="en-US" sz="1500" dirty="0">
              <a:latin typeface="Cambria" panose="02040503050406030204" pitchFamily="18" charset="0"/>
              <a:ea typeface="Cambria" panose="02040503050406030204" pitchFamily="18" charset="0"/>
            </a:endParaRPr>
          </a:p>
        </p:txBody>
      </p:sp>
      <p:sp>
        <p:nvSpPr>
          <p:cNvPr id="20" name="Shape 18"/>
          <p:cNvSpPr/>
          <p:nvPr/>
        </p:nvSpPr>
        <p:spPr>
          <a:xfrm>
            <a:off x="9601200" y="1481328"/>
            <a:ext cx="2029968" cy="1234440"/>
          </a:xfrm>
          <a:prstGeom prst="roundRect">
            <a:avLst>
              <a:gd name="adj" fmla="val 5926"/>
            </a:avLst>
          </a:prstGeom>
          <a:solidFill>
            <a:srgbClr val="EDF1F1"/>
          </a:solidFill>
          <a:ln/>
        </p:spPr>
      </p:sp>
      <p:sp>
        <p:nvSpPr>
          <p:cNvPr id="21" name="Text 19"/>
          <p:cNvSpPr txBox="1"/>
          <p:nvPr/>
        </p:nvSpPr>
        <p:spPr>
          <a:xfrm>
            <a:off x="9747504" y="1609344"/>
            <a:ext cx="1737360" cy="292608"/>
          </a:xfrm>
          <a:prstGeom prst="rect">
            <a:avLst/>
          </a:prstGeom>
          <a:noFill/>
          <a:ln/>
        </p:spPr>
        <p:txBody>
          <a:bodyPr wrap="square" lIns="0" tIns="0" rIns="0" bIns="0" rtlCol="0" anchor="ctr"/>
          <a:lstStyle/>
          <a:p>
            <a:pPr marL="0" indent="0">
              <a:buNone/>
            </a:pPr>
            <a:r>
              <a:rPr lang="en-US" sz="1600" b="1" dirty="0">
                <a:solidFill>
                  <a:srgbClr val="2E7D74"/>
                </a:solidFill>
                <a:latin typeface="Cambria" panose="02040503050406030204" pitchFamily="18" charset="0"/>
                <a:ea typeface="Cambria" panose="02040503050406030204" pitchFamily="18" charset="0"/>
                <a:cs typeface="Calibri" pitchFamily="34" charset="-120"/>
              </a:rPr>
              <a:t>Review</a:t>
            </a:r>
            <a:endParaRPr lang="en-US" sz="1600" dirty="0">
              <a:latin typeface="Cambria" panose="02040503050406030204" pitchFamily="18" charset="0"/>
              <a:ea typeface="Cambria" panose="02040503050406030204" pitchFamily="18" charset="0"/>
            </a:endParaRPr>
          </a:p>
        </p:txBody>
      </p:sp>
      <p:sp>
        <p:nvSpPr>
          <p:cNvPr id="22" name="Text 20"/>
          <p:cNvSpPr txBox="1"/>
          <p:nvPr/>
        </p:nvSpPr>
        <p:spPr>
          <a:xfrm>
            <a:off x="9747504" y="1920240"/>
            <a:ext cx="1737360" cy="713232"/>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Credit team eyeballs it and re-requests</a:t>
            </a:r>
            <a:endParaRPr lang="en-US" sz="1200" dirty="0">
              <a:latin typeface="Cambria" panose="02040503050406030204" pitchFamily="18" charset="0"/>
              <a:ea typeface="Cambria" panose="02040503050406030204" pitchFamily="18" charset="0"/>
            </a:endParaRPr>
          </a:p>
        </p:txBody>
      </p:sp>
      <p:sp>
        <p:nvSpPr>
          <p:cNvPr id="23" name="Shape 21"/>
          <p:cNvSpPr/>
          <p:nvPr/>
        </p:nvSpPr>
        <p:spPr>
          <a:xfrm>
            <a:off x="566928" y="2944368"/>
            <a:ext cx="11057839" cy="1170432"/>
          </a:xfrm>
          <a:prstGeom prst="roundRect">
            <a:avLst>
              <a:gd name="adj" fmla="val 6250"/>
            </a:avLst>
          </a:prstGeom>
          <a:solidFill>
            <a:srgbClr val="FBEFE6"/>
          </a:solidFill>
          <a:ln/>
        </p:spPr>
      </p:sp>
      <p:sp>
        <p:nvSpPr>
          <p:cNvPr id="24" name="Text 22"/>
          <p:cNvSpPr txBox="1"/>
          <p:nvPr/>
        </p:nvSpPr>
        <p:spPr>
          <a:xfrm>
            <a:off x="822960" y="3039872"/>
            <a:ext cx="3840480" cy="274320"/>
          </a:xfrm>
          <a:prstGeom prst="rect">
            <a:avLst/>
          </a:prstGeom>
          <a:noFill/>
          <a:ln/>
        </p:spPr>
        <p:txBody>
          <a:bodyPr wrap="square" lIns="0" tIns="0" rIns="0" bIns="0" rtlCol="0" anchor="ctr"/>
          <a:lstStyle/>
          <a:p>
            <a:pPr marL="0" indent="0">
              <a:buNone/>
            </a:pPr>
            <a:r>
              <a:rPr lang="en-US" sz="1600" b="1" dirty="0">
                <a:solidFill>
                  <a:srgbClr val="C2571A"/>
                </a:solidFill>
                <a:latin typeface="Cambria" panose="02040503050406030204" pitchFamily="18" charset="0"/>
                <a:ea typeface="Cambria" panose="02040503050406030204" pitchFamily="18" charset="0"/>
                <a:cs typeface="Calibri" pitchFamily="34" charset="-120"/>
              </a:rPr>
              <a:t>The metadata paradox</a:t>
            </a:r>
            <a:endParaRPr lang="en-US" sz="1600" dirty="0">
              <a:latin typeface="Cambria" panose="02040503050406030204" pitchFamily="18" charset="0"/>
              <a:ea typeface="Cambria" panose="02040503050406030204" pitchFamily="18" charset="0"/>
            </a:endParaRPr>
          </a:p>
        </p:txBody>
      </p:sp>
      <p:sp>
        <p:nvSpPr>
          <p:cNvPr id="25" name="Text 23"/>
          <p:cNvSpPr txBox="1"/>
          <p:nvPr/>
        </p:nvSpPr>
        <p:spPr>
          <a:xfrm>
            <a:off x="822960" y="3383280"/>
            <a:ext cx="10545775" cy="621792"/>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WhatsApp compresses and strips EXIF, so the genuine location evidence is destroyed by the channel collecting it. The workaround is a burned in text overlay from a free app which the app vendors themselves describe as not tamper proof. The evidence standard is a picture of some text, rendered by software the lender does not control.</a:t>
            </a:r>
            <a:endParaRPr lang="en-US" sz="1400" dirty="0">
              <a:latin typeface="Cambria" panose="02040503050406030204" pitchFamily="18" charset="0"/>
              <a:ea typeface="Cambria" panose="02040503050406030204" pitchFamily="18" charset="0"/>
            </a:endParaRPr>
          </a:p>
        </p:txBody>
      </p:sp>
      <p:sp>
        <p:nvSpPr>
          <p:cNvPr id="26" name="Shape 24"/>
          <p:cNvSpPr/>
          <p:nvPr/>
        </p:nvSpPr>
        <p:spPr>
          <a:xfrm>
            <a:off x="566928" y="4370832"/>
            <a:ext cx="2651760" cy="1481328"/>
          </a:xfrm>
          <a:prstGeom prst="roundRect">
            <a:avLst>
              <a:gd name="adj" fmla="val 4938"/>
            </a:avLst>
          </a:prstGeom>
          <a:solidFill>
            <a:srgbClr val="FFFFFF"/>
          </a:solidFill>
          <a:ln w="9525">
            <a:solidFill>
              <a:srgbClr val="D6DFE1"/>
            </a:solidFill>
            <a:prstDash val="solid"/>
          </a:ln>
        </p:spPr>
      </p:sp>
      <p:sp>
        <p:nvSpPr>
          <p:cNvPr id="27" name="Shape 25"/>
          <p:cNvSpPr/>
          <p:nvPr/>
        </p:nvSpPr>
        <p:spPr>
          <a:xfrm>
            <a:off x="749808" y="4553712"/>
            <a:ext cx="274320" cy="274320"/>
          </a:xfrm>
          <a:prstGeom prst="ellipse">
            <a:avLst/>
          </a:prstGeom>
          <a:solidFill>
            <a:srgbClr val="2E7D74"/>
          </a:solidFill>
          <a:ln/>
        </p:spPr>
      </p:sp>
      <p:sp>
        <p:nvSpPr>
          <p:cNvPr id="28" name="Text 26"/>
          <p:cNvSpPr txBox="1"/>
          <p:nvPr/>
        </p:nvSpPr>
        <p:spPr>
          <a:xfrm>
            <a:off x="749808" y="45537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1</a:t>
            </a:r>
            <a:endParaRPr lang="en-US" sz="1200" dirty="0">
              <a:latin typeface="Cambria" panose="02040503050406030204" pitchFamily="18" charset="0"/>
              <a:ea typeface="Cambria" panose="02040503050406030204" pitchFamily="18" charset="0"/>
            </a:endParaRPr>
          </a:p>
        </p:txBody>
      </p:sp>
      <p:sp>
        <p:nvSpPr>
          <p:cNvPr id="29" name="Text 27"/>
          <p:cNvSpPr txBox="1"/>
          <p:nvPr/>
        </p:nvSpPr>
        <p:spPr>
          <a:xfrm>
            <a:off x="1097280" y="4553712"/>
            <a:ext cx="1938528" cy="274320"/>
          </a:xfrm>
          <a:prstGeom prst="rect">
            <a:avLst/>
          </a:prstGeom>
          <a:noFill/>
          <a:ln/>
        </p:spPr>
        <p:txBody>
          <a:bodyPr wrap="square" lIns="0" tIns="0" rIns="0" bIns="0" rtlCol="0" anchor="ctr"/>
          <a:lstStyle/>
          <a:p>
            <a:pPr marL="0" indent="0">
              <a:buNone/>
            </a:pPr>
            <a:r>
              <a:rPr lang="en-US" sz="1600" b="1" dirty="0">
                <a:latin typeface="Cambria" panose="02040503050406030204" pitchFamily="18" charset="0"/>
                <a:ea typeface="Cambria" panose="02040503050406030204" pitchFamily="18" charset="0"/>
                <a:cs typeface="Calibri" pitchFamily="34" charset="-120"/>
              </a:rPr>
              <a:t>Customer friction</a:t>
            </a:r>
            <a:endParaRPr lang="en-US" sz="1600" dirty="0">
              <a:latin typeface="Cambria" panose="02040503050406030204" pitchFamily="18" charset="0"/>
              <a:ea typeface="Cambria" panose="02040503050406030204" pitchFamily="18" charset="0"/>
            </a:endParaRPr>
          </a:p>
        </p:txBody>
      </p:sp>
      <p:sp>
        <p:nvSpPr>
          <p:cNvPr id="30" name="Text 28"/>
          <p:cNvSpPr txBox="1"/>
          <p:nvPr/>
        </p:nvSpPr>
        <p:spPr>
          <a:xfrm>
            <a:off x="749808" y="4956048"/>
            <a:ext cx="2286000" cy="777240"/>
          </a:xfrm>
          <a:prstGeom prst="rect">
            <a:avLst/>
          </a:prstGeom>
          <a:noFill/>
          <a:ln/>
        </p:spPr>
        <p:txBody>
          <a:bodyPr wrap="square" lIns="0" tIns="0" rIns="0" bIns="0" rtlCol="0" anchor="ctr"/>
          <a:lstStyle/>
          <a:p>
            <a:pPr marL="0" indent="0">
              <a:buNone/>
            </a:pPr>
            <a:r>
              <a:rPr lang="en-US" sz="1200" dirty="0">
                <a:latin typeface="Cambria" panose="02040503050406030204" pitchFamily="18" charset="0"/>
                <a:ea typeface="Cambria" panose="02040503050406030204" pitchFamily="18" charset="0"/>
                <a:cs typeface="Calibri" pitchFamily="34" charset="-120"/>
              </a:rPr>
              <a:t>The task is unclear. Rejection reasons arrive days later, from 200km away.</a:t>
            </a:r>
            <a:endParaRPr lang="en-US" sz="1200" dirty="0">
              <a:latin typeface="Cambria" panose="02040503050406030204" pitchFamily="18" charset="0"/>
              <a:ea typeface="Cambria" panose="02040503050406030204" pitchFamily="18" charset="0"/>
            </a:endParaRPr>
          </a:p>
        </p:txBody>
      </p:sp>
      <p:sp>
        <p:nvSpPr>
          <p:cNvPr id="31" name="Shape 29"/>
          <p:cNvSpPr/>
          <p:nvPr/>
        </p:nvSpPr>
        <p:spPr>
          <a:xfrm>
            <a:off x="3374136" y="4370832"/>
            <a:ext cx="2651760" cy="1481328"/>
          </a:xfrm>
          <a:prstGeom prst="roundRect">
            <a:avLst>
              <a:gd name="adj" fmla="val 4938"/>
            </a:avLst>
          </a:prstGeom>
          <a:solidFill>
            <a:srgbClr val="FFFFFF"/>
          </a:solidFill>
          <a:ln w="9525">
            <a:solidFill>
              <a:srgbClr val="D6DFE1"/>
            </a:solidFill>
            <a:prstDash val="solid"/>
          </a:ln>
        </p:spPr>
      </p:sp>
      <p:sp>
        <p:nvSpPr>
          <p:cNvPr id="32" name="Shape 30"/>
          <p:cNvSpPr/>
          <p:nvPr/>
        </p:nvSpPr>
        <p:spPr>
          <a:xfrm>
            <a:off x="3557016" y="4553712"/>
            <a:ext cx="274320" cy="274320"/>
          </a:xfrm>
          <a:prstGeom prst="ellipse">
            <a:avLst/>
          </a:prstGeom>
          <a:solidFill>
            <a:srgbClr val="2E7D74"/>
          </a:solidFill>
          <a:ln/>
        </p:spPr>
      </p:sp>
      <p:sp>
        <p:nvSpPr>
          <p:cNvPr id="33" name="Text 31"/>
          <p:cNvSpPr txBox="1"/>
          <p:nvPr/>
        </p:nvSpPr>
        <p:spPr>
          <a:xfrm>
            <a:off x="3557016" y="45537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2</a:t>
            </a:r>
            <a:endParaRPr lang="en-US" sz="1200" dirty="0">
              <a:latin typeface="Cambria" panose="02040503050406030204" pitchFamily="18" charset="0"/>
              <a:ea typeface="Cambria" panose="02040503050406030204" pitchFamily="18" charset="0"/>
            </a:endParaRPr>
          </a:p>
        </p:txBody>
      </p:sp>
      <p:sp>
        <p:nvSpPr>
          <p:cNvPr id="34" name="Text 32"/>
          <p:cNvSpPr txBox="1"/>
          <p:nvPr/>
        </p:nvSpPr>
        <p:spPr>
          <a:xfrm>
            <a:off x="3904488" y="4553712"/>
            <a:ext cx="1938528" cy="274320"/>
          </a:xfrm>
          <a:prstGeom prst="rect">
            <a:avLst/>
          </a:prstGeom>
          <a:noFill/>
          <a:ln/>
        </p:spPr>
        <p:txBody>
          <a:bodyPr wrap="square" lIns="0" tIns="0" rIns="0" bIns="0" rtlCol="0" anchor="ctr"/>
          <a:lstStyle/>
          <a:p>
            <a:pPr marL="0" indent="0">
              <a:buNone/>
            </a:pPr>
            <a:r>
              <a:rPr lang="en-US" sz="1600" b="1" dirty="0">
                <a:latin typeface="Cambria" panose="02040503050406030204" pitchFamily="18" charset="0"/>
                <a:ea typeface="Cambria" panose="02040503050406030204" pitchFamily="18" charset="0"/>
                <a:cs typeface="Calibri" pitchFamily="34" charset="-120"/>
              </a:rPr>
              <a:t>Operational burden</a:t>
            </a:r>
            <a:endParaRPr lang="en-US" sz="1600" dirty="0">
              <a:latin typeface="Cambria" panose="02040503050406030204" pitchFamily="18" charset="0"/>
              <a:ea typeface="Cambria" panose="02040503050406030204" pitchFamily="18" charset="0"/>
            </a:endParaRPr>
          </a:p>
        </p:txBody>
      </p:sp>
      <p:sp>
        <p:nvSpPr>
          <p:cNvPr id="35" name="Text 33"/>
          <p:cNvSpPr txBox="1"/>
          <p:nvPr/>
        </p:nvSpPr>
        <p:spPr>
          <a:xfrm>
            <a:off x="3557016" y="4956048"/>
            <a:ext cx="2286000" cy="777240"/>
          </a:xfrm>
          <a:prstGeom prst="rect">
            <a:avLst/>
          </a:prstGeom>
          <a:noFill/>
          <a:ln/>
        </p:spPr>
        <p:txBody>
          <a:bodyPr wrap="square" lIns="0" tIns="0" rIns="0" bIns="0" rtlCol="0" anchor="ctr"/>
          <a:lstStyle/>
          <a:p>
            <a:pPr marL="0" indent="0">
              <a:buNone/>
            </a:pPr>
            <a:r>
              <a:rPr lang="en-US" sz="1200" dirty="0">
                <a:latin typeface="Cambria" panose="02040503050406030204" pitchFamily="18" charset="0"/>
                <a:ea typeface="Cambria" panose="02040503050406030204" pitchFamily="18" charset="0"/>
                <a:cs typeface="Calibri" pitchFamily="34" charset="-120"/>
              </a:rPr>
              <a:t>Credit teams chase, review and re-request evidence they cannot verify.</a:t>
            </a:r>
            <a:endParaRPr lang="en-US" sz="1200" dirty="0">
              <a:latin typeface="Cambria" panose="02040503050406030204" pitchFamily="18" charset="0"/>
              <a:ea typeface="Cambria" panose="02040503050406030204" pitchFamily="18" charset="0"/>
            </a:endParaRPr>
          </a:p>
        </p:txBody>
      </p:sp>
      <p:sp>
        <p:nvSpPr>
          <p:cNvPr id="36" name="Shape 34"/>
          <p:cNvSpPr/>
          <p:nvPr/>
        </p:nvSpPr>
        <p:spPr>
          <a:xfrm>
            <a:off x="6181344" y="4370832"/>
            <a:ext cx="2651760" cy="1481328"/>
          </a:xfrm>
          <a:prstGeom prst="roundRect">
            <a:avLst>
              <a:gd name="adj" fmla="val 4938"/>
            </a:avLst>
          </a:prstGeom>
          <a:solidFill>
            <a:srgbClr val="FFFFFF"/>
          </a:solidFill>
          <a:ln w="9525">
            <a:solidFill>
              <a:srgbClr val="D6DFE1"/>
            </a:solidFill>
            <a:prstDash val="solid"/>
          </a:ln>
        </p:spPr>
      </p:sp>
      <p:sp>
        <p:nvSpPr>
          <p:cNvPr id="37" name="Shape 35"/>
          <p:cNvSpPr/>
          <p:nvPr/>
        </p:nvSpPr>
        <p:spPr>
          <a:xfrm>
            <a:off x="6364224" y="4553712"/>
            <a:ext cx="274320" cy="274320"/>
          </a:xfrm>
          <a:prstGeom prst="ellipse">
            <a:avLst/>
          </a:prstGeom>
          <a:solidFill>
            <a:srgbClr val="2E7D74"/>
          </a:solidFill>
          <a:ln/>
        </p:spPr>
      </p:sp>
      <p:sp>
        <p:nvSpPr>
          <p:cNvPr id="38" name="Text 36"/>
          <p:cNvSpPr txBox="1"/>
          <p:nvPr/>
        </p:nvSpPr>
        <p:spPr>
          <a:xfrm>
            <a:off x="6364224" y="45537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3</a:t>
            </a:r>
            <a:endParaRPr lang="en-US" sz="1200" dirty="0">
              <a:latin typeface="Cambria" panose="02040503050406030204" pitchFamily="18" charset="0"/>
              <a:ea typeface="Cambria" panose="02040503050406030204" pitchFamily="18" charset="0"/>
            </a:endParaRPr>
          </a:p>
        </p:txBody>
      </p:sp>
      <p:sp>
        <p:nvSpPr>
          <p:cNvPr id="39" name="Text 37"/>
          <p:cNvSpPr txBox="1"/>
          <p:nvPr/>
        </p:nvSpPr>
        <p:spPr>
          <a:xfrm>
            <a:off x="6711696" y="4553712"/>
            <a:ext cx="1938528" cy="274320"/>
          </a:xfrm>
          <a:prstGeom prst="rect">
            <a:avLst/>
          </a:prstGeom>
          <a:noFill/>
          <a:ln/>
        </p:spPr>
        <p:txBody>
          <a:bodyPr wrap="square" lIns="0" tIns="0" rIns="0" bIns="0" rtlCol="0" anchor="ctr"/>
          <a:lstStyle/>
          <a:p>
            <a:pPr marL="0" indent="0">
              <a:buNone/>
            </a:pPr>
            <a:r>
              <a:rPr lang="en-US" sz="1600" b="1" dirty="0">
                <a:latin typeface="Cambria" panose="02040503050406030204" pitchFamily="18" charset="0"/>
                <a:ea typeface="Cambria" panose="02040503050406030204" pitchFamily="18" charset="0"/>
                <a:cs typeface="Calibri" pitchFamily="34" charset="-120"/>
              </a:rPr>
              <a:t>Decision confidence</a:t>
            </a:r>
            <a:endParaRPr lang="en-US" sz="1600" dirty="0">
              <a:latin typeface="Cambria" panose="02040503050406030204" pitchFamily="18" charset="0"/>
              <a:ea typeface="Cambria" panose="02040503050406030204" pitchFamily="18" charset="0"/>
            </a:endParaRPr>
          </a:p>
        </p:txBody>
      </p:sp>
      <p:sp>
        <p:nvSpPr>
          <p:cNvPr id="40" name="Text 38"/>
          <p:cNvSpPr txBox="1"/>
          <p:nvPr/>
        </p:nvSpPr>
        <p:spPr>
          <a:xfrm>
            <a:off x="6364224" y="4956048"/>
            <a:ext cx="2286000" cy="777240"/>
          </a:xfrm>
          <a:prstGeom prst="rect">
            <a:avLst/>
          </a:prstGeom>
          <a:noFill/>
          <a:ln/>
        </p:spPr>
        <p:txBody>
          <a:bodyPr wrap="square" lIns="0" tIns="0" rIns="0" bIns="0" rtlCol="0" anchor="ctr"/>
          <a:lstStyle/>
          <a:p>
            <a:pPr marL="0" indent="0">
              <a:buNone/>
            </a:pPr>
            <a:r>
              <a:rPr lang="en-US" sz="1200" dirty="0">
                <a:latin typeface="Cambria" panose="02040503050406030204" pitchFamily="18" charset="0"/>
                <a:ea typeface="Cambria" panose="02040503050406030204" pitchFamily="18" charset="0"/>
                <a:cs typeface="Calibri" pitchFamily="34" charset="-120"/>
              </a:rPr>
              <a:t>A reviewer can judge legibility. Not freshness, location, or authorship.</a:t>
            </a:r>
            <a:endParaRPr lang="en-US" sz="1200" dirty="0">
              <a:latin typeface="Cambria" panose="02040503050406030204" pitchFamily="18" charset="0"/>
              <a:ea typeface="Cambria" panose="02040503050406030204" pitchFamily="18" charset="0"/>
            </a:endParaRPr>
          </a:p>
        </p:txBody>
      </p:sp>
      <p:sp>
        <p:nvSpPr>
          <p:cNvPr id="41" name="Shape 39"/>
          <p:cNvSpPr/>
          <p:nvPr/>
        </p:nvSpPr>
        <p:spPr>
          <a:xfrm>
            <a:off x="8988552" y="4370832"/>
            <a:ext cx="2651760" cy="1481328"/>
          </a:xfrm>
          <a:prstGeom prst="roundRect">
            <a:avLst>
              <a:gd name="adj" fmla="val 4938"/>
            </a:avLst>
          </a:prstGeom>
          <a:solidFill>
            <a:srgbClr val="FFFFFF"/>
          </a:solidFill>
          <a:ln w="9525">
            <a:solidFill>
              <a:srgbClr val="D6DFE1"/>
            </a:solidFill>
            <a:prstDash val="solid"/>
          </a:ln>
        </p:spPr>
      </p:sp>
      <p:sp>
        <p:nvSpPr>
          <p:cNvPr id="42" name="Shape 40"/>
          <p:cNvSpPr/>
          <p:nvPr/>
        </p:nvSpPr>
        <p:spPr>
          <a:xfrm>
            <a:off x="9171432" y="4553712"/>
            <a:ext cx="274320" cy="274320"/>
          </a:xfrm>
          <a:prstGeom prst="ellipse">
            <a:avLst/>
          </a:prstGeom>
          <a:solidFill>
            <a:srgbClr val="2E7D74"/>
          </a:solidFill>
          <a:ln/>
        </p:spPr>
      </p:sp>
      <p:sp>
        <p:nvSpPr>
          <p:cNvPr id="43" name="Text 41"/>
          <p:cNvSpPr txBox="1"/>
          <p:nvPr/>
        </p:nvSpPr>
        <p:spPr>
          <a:xfrm>
            <a:off x="9171432" y="45537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4</a:t>
            </a:r>
            <a:endParaRPr lang="en-US" sz="1200" dirty="0">
              <a:latin typeface="Cambria" panose="02040503050406030204" pitchFamily="18" charset="0"/>
              <a:ea typeface="Cambria" panose="02040503050406030204" pitchFamily="18" charset="0"/>
            </a:endParaRPr>
          </a:p>
        </p:txBody>
      </p:sp>
      <p:sp>
        <p:nvSpPr>
          <p:cNvPr id="44" name="Text 42"/>
          <p:cNvSpPr txBox="1"/>
          <p:nvPr/>
        </p:nvSpPr>
        <p:spPr>
          <a:xfrm>
            <a:off x="9518904" y="4553712"/>
            <a:ext cx="1938528" cy="274320"/>
          </a:xfrm>
          <a:prstGeom prst="rect">
            <a:avLst/>
          </a:prstGeom>
          <a:noFill/>
          <a:ln/>
        </p:spPr>
        <p:txBody>
          <a:bodyPr wrap="square" lIns="0" tIns="0" rIns="0" bIns="0" rtlCol="0" anchor="ctr"/>
          <a:lstStyle/>
          <a:p>
            <a:pPr marL="0" indent="0">
              <a:buNone/>
            </a:pPr>
            <a:r>
              <a:rPr lang="en-US" sz="1600" b="1" dirty="0">
                <a:latin typeface="Cambria" panose="02040503050406030204" pitchFamily="18" charset="0"/>
                <a:ea typeface="Cambria" panose="02040503050406030204" pitchFamily="18" charset="0"/>
                <a:cs typeface="Calibri" pitchFamily="34" charset="-120"/>
              </a:rPr>
              <a:t>Completion gaps</a:t>
            </a:r>
            <a:endParaRPr lang="en-US" sz="1600" dirty="0">
              <a:latin typeface="Cambria" panose="02040503050406030204" pitchFamily="18" charset="0"/>
              <a:ea typeface="Cambria" panose="02040503050406030204" pitchFamily="18" charset="0"/>
            </a:endParaRPr>
          </a:p>
        </p:txBody>
      </p:sp>
      <p:sp>
        <p:nvSpPr>
          <p:cNvPr id="45" name="Text 43"/>
          <p:cNvSpPr txBox="1"/>
          <p:nvPr/>
        </p:nvSpPr>
        <p:spPr>
          <a:xfrm>
            <a:off x="9171432" y="4956048"/>
            <a:ext cx="2286000" cy="777240"/>
          </a:xfrm>
          <a:prstGeom prst="rect">
            <a:avLst/>
          </a:prstGeom>
          <a:noFill/>
          <a:ln/>
        </p:spPr>
        <p:txBody>
          <a:bodyPr wrap="square" lIns="0" tIns="0" rIns="0" bIns="0" rtlCol="0" anchor="ctr"/>
          <a:lstStyle/>
          <a:p>
            <a:pPr marL="0" indent="0">
              <a:buNone/>
            </a:pPr>
            <a:r>
              <a:rPr lang="en-US" sz="1200" dirty="0">
                <a:latin typeface="Cambria" panose="02040503050406030204" pitchFamily="18" charset="0"/>
                <a:ea typeface="Cambria" panose="02040503050406030204" pitchFamily="18" charset="0"/>
                <a:cs typeface="Calibri" pitchFamily="34" charset="-120"/>
              </a:rPr>
              <a:t>Permissions, connectivity and low-end devices end the journey silently.</a:t>
            </a:r>
            <a:endParaRPr lang="en-US" sz="1200" dirty="0">
              <a:latin typeface="Cambria" panose="02040503050406030204" pitchFamily="18" charset="0"/>
              <a:ea typeface="Cambria" panose="02040503050406030204" pitchFamily="18" charset="0"/>
            </a:endParaRPr>
          </a:p>
        </p:txBody>
      </p:sp>
      <p:sp>
        <p:nvSpPr>
          <p:cNvPr id="46" name="Text 44"/>
          <p:cNvSpPr txBox="1"/>
          <p:nvPr/>
        </p:nvSpPr>
        <p:spPr>
          <a:xfrm>
            <a:off x="566928" y="6035040"/>
            <a:ext cx="11057839" cy="292608"/>
          </a:xfrm>
          <a:prstGeom prst="rect">
            <a:avLst/>
          </a:prstGeom>
          <a:noFill/>
          <a:ln/>
        </p:spPr>
        <p:txBody>
          <a:bodyPr wrap="square" lIns="0" tIns="0" rIns="0" bIns="0" rtlCol="0" anchor="ctr"/>
          <a:lstStyle/>
          <a:p>
            <a:pPr marL="0" indent="0">
              <a:buNone/>
            </a:pPr>
            <a:r>
              <a:rPr lang="en-US" sz="1600" i="1" dirty="0">
                <a:solidFill>
                  <a:srgbClr val="C2571A"/>
                </a:solidFill>
                <a:latin typeface="Cambria" panose="02040503050406030204" pitchFamily="18" charset="0"/>
                <a:ea typeface="Cambria" panose="02040503050406030204" pitchFamily="18" charset="0"/>
                <a:cs typeface="Calibri" pitchFamily="34" charset="-120"/>
              </a:rPr>
              <a:t>The manual leg to remove is the credit team's review of submitted evidence, not a field visit.</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Five people, five different reasons the journey breaks</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Persona is not a demographic here. It is the specific failure the design has to absorb.</a:t>
            </a:r>
            <a:endParaRPr lang="en-US" sz="1400" dirty="0">
              <a:latin typeface="Cambria" panose="02040503050406030204" pitchFamily="18" charset="0"/>
              <a:ea typeface="Cambria" panose="02040503050406030204" pitchFamily="18" charset="0"/>
            </a:endParaRPr>
          </a:p>
        </p:txBody>
      </p:sp>
      <p:sp>
        <p:nvSpPr>
          <p:cNvPr id="4" name="Shape 2"/>
          <p:cNvSpPr/>
          <p:nvPr/>
        </p:nvSpPr>
        <p:spPr>
          <a:xfrm>
            <a:off x="566928" y="1389888"/>
            <a:ext cx="3538728" cy="1975104"/>
          </a:xfrm>
          <a:prstGeom prst="roundRect">
            <a:avLst>
              <a:gd name="adj" fmla="val 3704"/>
            </a:avLst>
          </a:prstGeom>
          <a:solidFill>
            <a:srgbClr val="FFFFFF"/>
          </a:solidFill>
          <a:ln w="9525">
            <a:solidFill>
              <a:srgbClr val="D6DFE1"/>
            </a:solidFill>
            <a:prstDash val="solid"/>
          </a:ln>
        </p:spPr>
      </p:sp>
      <p:sp>
        <p:nvSpPr>
          <p:cNvPr id="5" name="Text 3"/>
          <p:cNvSpPr txBox="1"/>
          <p:nvPr/>
        </p:nvSpPr>
        <p:spPr>
          <a:xfrm>
            <a:off x="786384" y="1554480"/>
            <a:ext cx="3099816" cy="274320"/>
          </a:xfrm>
          <a:prstGeom prst="rect">
            <a:avLst/>
          </a:prstGeom>
          <a:noFill/>
          <a:ln/>
        </p:spPr>
        <p:txBody>
          <a:bodyPr wrap="square" lIns="0" tIns="0" rIns="0" bIns="0" rtlCol="0" anchor="ctr"/>
          <a:lstStyle/>
          <a:p>
            <a:pPr marL="0" indent="0">
              <a:buNone/>
            </a:pPr>
            <a:r>
              <a:rPr lang="en-US" b="1" dirty="0">
                <a:solidFill>
                  <a:srgbClr val="10333F"/>
                </a:solidFill>
                <a:latin typeface="Cambria" panose="02040503050406030204" pitchFamily="18" charset="0"/>
                <a:ea typeface="Cambria" panose="02040503050406030204" pitchFamily="18" charset="0"/>
                <a:cs typeface="Cambria" pitchFamily="34" charset="-120"/>
              </a:rPr>
              <a:t>Ravi, 29</a:t>
            </a:r>
            <a:endParaRPr lang="en-US" dirty="0">
              <a:latin typeface="Cambria" panose="02040503050406030204" pitchFamily="18" charset="0"/>
              <a:ea typeface="Cambria" panose="02040503050406030204" pitchFamily="18" charset="0"/>
            </a:endParaRPr>
          </a:p>
        </p:txBody>
      </p:sp>
      <p:sp>
        <p:nvSpPr>
          <p:cNvPr id="6" name="Text 4"/>
          <p:cNvSpPr txBox="1"/>
          <p:nvPr/>
        </p:nvSpPr>
        <p:spPr>
          <a:xfrm>
            <a:off x="786384" y="1847088"/>
            <a:ext cx="3099816" cy="256032"/>
          </a:xfrm>
          <a:prstGeom prst="rect">
            <a:avLst/>
          </a:prstGeom>
          <a:noFill/>
          <a:ln/>
        </p:spPr>
        <p:txBody>
          <a:bodyPr wrap="square" lIns="0" tIns="0" rIns="0" bIns="0" rtlCol="0" anchor="ctr"/>
          <a:lstStyle/>
          <a:p>
            <a:pPr marL="0" indent="0">
              <a:buNone/>
            </a:pPr>
            <a:r>
              <a:rPr lang="en-US" sz="1400" b="1" dirty="0">
                <a:solidFill>
                  <a:srgbClr val="2E7D74"/>
                </a:solidFill>
                <a:latin typeface="Cambria" panose="02040503050406030204" pitchFamily="18" charset="0"/>
                <a:ea typeface="Cambria" panose="02040503050406030204" pitchFamily="18" charset="0"/>
                <a:cs typeface="Calibri" pitchFamily="34" charset="-120"/>
              </a:rPr>
              <a:t>Salaried, rented metro flat</a:t>
            </a:r>
            <a:endParaRPr lang="en-US" sz="1400" dirty="0">
              <a:latin typeface="Cambria" panose="02040503050406030204" pitchFamily="18" charset="0"/>
              <a:ea typeface="Cambria" panose="02040503050406030204" pitchFamily="18" charset="0"/>
            </a:endParaRPr>
          </a:p>
        </p:txBody>
      </p:sp>
      <p:sp>
        <p:nvSpPr>
          <p:cNvPr id="7" name="Text 5"/>
          <p:cNvSpPr txBox="1"/>
          <p:nvPr/>
        </p:nvSpPr>
        <p:spPr>
          <a:xfrm>
            <a:off x="786384" y="2157984"/>
            <a:ext cx="3099816" cy="694944"/>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Out 9 to 9. Address geocodes to a society gate shared by 300 flats.</a:t>
            </a:r>
            <a:endParaRPr lang="en-US" sz="1400" dirty="0">
              <a:latin typeface="Cambria" panose="02040503050406030204" pitchFamily="18" charset="0"/>
              <a:ea typeface="Cambria" panose="02040503050406030204" pitchFamily="18" charset="0"/>
            </a:endParaRPr>
          </a:p>
        </p:txBody>
      </p:sp>
      <p:sp>
        <p:nvSpPr>
          <p:cNvPr id="8" name="Text 6"/>
          <p:cNvSpPr txBox="1"/>
          <p:nvPr/>
        </p:nvSpPr>
        <p:spPr>
          <a:xfrm>
            <a:off x="786384" y="2944368"/>
            <a:ext cx="3099816" cy="274320"/>
          </a:xfrm>
          <a:prstGeom prst="rect">
            <a:avLst/>
          </a:prstGeom>
          <a:noFill/>
          <a:ln/>
        </p:spPr>
        <p:txBody>
          <a:bodyPr wrap="square" lIns="0" tIns="0" rIns="0" bIns="0" rtlCol="0" anchor="ctr"/>
          <a:lstStyle/>
          <a:p>
            <a:pPr marL="0" indent="0">
              <a:buNone/>
            </a:pPr>
            <a:r>
              <a:rPr lang="en-US" sz="1200" b="1" dirty="0">
                <a:solidFill>
                  <a:srgbClr val="C2571A"/>
                </a:solidFill>
                <a:latin typeface="Cambria" panose="02040503050406030204" pitchFamily="18" charset="0"/>
                <a:ea typeface="Cambria" panose="02040503050406030204" pitchFamily="18" charset="0"/>
                <a:cs typeface="Calibri" pitchFamily="34" charset="-120"/>
              </a:rPr>
              <a:t>Breaks on: being there</a:t>
            </a:r>
            <a:endParaRPr lang="en-US" sz="1200" dirty="0">
              <a:latin typeface="Cambria" panose="02040503050406030204" pitchFamily="18" charset="0"/>
              <a:ea typeface="Cambria" panose="02040503050406030204" pitchFamily="18" charset="0"/>
            </a:endParaRPr>
          </a:p>
        </p:txBody>
      </p:sp>
      <p:sp>
        <p:nvSpPr>
          <p:cNvPr id="9" name="Shape 7"/>
          <p:cNvSpPr/>
          <p:nvPr/>
        </p:nvSpPr>
        <p:spPr>
          <a:xfrm>
            <a:off x="4334256" y="1389888"/>
            <a:ext cx="3538728" cy="1975104"/>
          </a:xfrm>
          <a:prstGeom prst="roundRect">
            <a:avLst>
              <a:gd name="adj" fmla="val 3704"/>
            </a:avLst>
          </a:prstGeom>
          <a:solidFill>
            <a:srgbClr val="FFFFFF"/>
          </a:solidFill>
          <a:ln w="9525">
            <a:solidFill>
              <a:srgbClr val="D6DFE1"/>
            </a:solidFill>
            <a:prstDash val="solid"/>
          </a:ln>
        </p:spPr>
      </p:sp>
      <p:sp>
        <p:nvSpPr>
          <p:cNvPr id="10" name="Text 8"/>
          <p:cNvSpPr txBox="1"/>
          <p:nvPr/>
        </p:nvSpPr>
        <p:spPr>
          <a:xfrm>
            <a:off x="4553712" y="1554480"/>
            <a:ext cx="3099816" cy="274320"/>
          </a:xfrm>
          <a:prstGeom prst="rect">
            <a:avLst/>
          </a:prstGeom>
          <a:noFill/>
          <a:ln/>
        </p:spPr>
        <p:txBody>
          <a:bodyPr wrap="square" lIns="0" tIns="0" rIns="0" bIns="0" rtlCol="0" anchor="ctr"/>
          <a:lstStyle/>
          <a:p>
            <a:pPr marL="0" indent="0">
              <a:buNone/>
            </a:pPr>
            <a:r>
              <a:rPr lang="en-US" b="1" dirty="0">
                <a:solidFill>
                  <a:srgbClr val="10333F"/>
                </a:solidFill>
                <a:latin typeface="Cambria" panose="02040503050406030204" pitchFamily="18" charset="0"/>
                <a:ea typeface="Cambria" panose="02040503050406030204" pitchFamily="18" charset="0"/>
                <a:cs typeface="Cambria" pitchFamily="34" charset="-120"/>
              </a:rPr>
              <a:t>Sunita, 41</a:t>
            </a:r>
            <a:endParaRPr lang="en-US" dirty="0">
              <a:latin typeface="Cambria" panose="02040503050406030204" pitchFamily="18" charset="0"/>
              <a:ea typeface="Cambria" panose="02040503050406030204" pitchFamily="18" charset="0"/>
            </a:endParaRPr>
          </a:p>
        </p:txBody>
      </p:sp>
      <p:sp>
        <p:nvSpPr>
          <p:cNvPr id="11" name="Text 9"/>
          <p:cNvSpPr txBox="1"/>
          <p:nvPr/>
        </p:nvSpPr>
        <p:spPr>
          <a:xfrm>
            <a:off x="4553712" y="1847088"/>
            <a:ext cx="3099816" cy="256032"/>
          </a:xfrm>
          <a:prstGeom prst="rect">
            <a:avLst/>
          </a:prstGeom>
          <a:noFill/>
          <a:ln/>
        </p:spPr>
        <p:txBody>
          <a:bodyPr wrap="square" lIns="0" tIns="0" rIns="0" bIns="0" rtlCol="0" anchor="ctr"/>
          <a:lstStyle/>
          <a:p>
            <a:pPr marL="0" indent="0">
              <a:buNone/>
            </a:pPr>
            <a:r>
              <a:rPr lang="en-US" sz="1400" b="1" dirty="0">
                <a:solidFill>
                  <a:srgbClr val="2E7D74"/>
                </a:solidFill>
                <a:latin typeface="Cambria" panose="02040503050406030204" pitchFamily="18" charset="0"/>
                <a:ea typeface="Cambria" panose="02040503050406030204" pitchFamily="18" charset="0"/>
                <a:cs typeface="Calibri" pitchFamily="34" charset="-120"/>
              </a:rPr>
              <a:t>Self-employed, garment shop</a:t>
            </a:r>
            <a:endParaRPr lang="en-US" sz="1400" dirty="0">
              <a:latin typeface="Cambria" panose="02040503050406030204" pitchFamily="18" charset="0"/>
              <a:ea typeface="Cambria" panose="02040503050406030204" pitchFamily="18" charset="0"/>
            </a:endParaRPr>
          </a:p>
        </p:txBody>
      </p:sp>
      <p:sp>
        <p:nvSpPr>
          <p:cNvPr id="12" name="Text 10"/>
          <p:cNvSpPr txBox="1"/>
          <p:nvPr/>
        </p:nvSpPr>
        <p:spPr>
          <a:xfrm>
            <a:off x="4553712" y="2157984"/>
            <a:ext cx="3099816" cy="694944"/>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GST address is her accountant's office. Two premises to prove, no time to redo.</a:t>
            </a:r>
            <a:endParaRPr lang="en-US" sz="1400" dirty="0">
              <a:latin typeface="Cambria" panose="02040503050406030204" pitchFamily="18" charset="0"/>
              <a:ea typeface="Cambria" panose="02040503050406030204" pitchFamily="18" charset="0"/>
            </a:endParaRPr>
          </a:p>
        </p:txBody>
      </p:sp>
      <p:sp>
        <p:nvSpPr>
          <p:cNvPr id="13" name="Text 11"/>
          <p:cNvSpPr txBox="1"/>
          <p:nvPr/>
        </p:nvSpPr>
        <p:spPr>
          <a:xfrm>
            <a:off x="4553712" y="2944368"/>
            <a:ext cx="3099816" cy="274320"/>
          </a:xfrm>
          <a:prstGeom prst="rect">
            <a:avLst/>
          </a:prstGeom>
          <a:noFill/>
          <a:ln/>
        </p:spPr>
        <p:txBody>
          <a:bodyPr wrap="square" lIns="0" tIns="0" rIns="0" bIns="0" rtlCol="0" anchor="ctr"/>
          <a:lstStyle/>
          <a:p>
            <a:pPr marL="0" indent="0">
              <a:buNone/>
            </a:pPr>
            <a:r>
              <a:rPr lang="en-US" sz="1200" b="1" dirty="0">
                <a:solidFill>
                  <a:srgbClr val="C2571A"/>
                </a:solidFill>
                <a:latin typeface="Cambria" panose="02040503050406030204" pitchFamily="18" charset="0"/>
                <a:ea typeface="Cambria" panose="02040503050406030204" pitchFamily="18" charset="0"/>
                <a:cs typeface="Calibri" pitchFamily="34" charset="-120"/>
              </a:rPr>
              <a:t>Breaks on: honest mismatch</a:t>
            </a:r>
            <a:endParaRPr lang="en-US" sz="1200" dirty="0">
              <a:latin typeface="Cambria" panose="02040503050406030204" pitchFamily="18" charset="0"/>
              <a:ea typeface="Cambria" panose="02040503050406030204" pitchFamily="18" charset="0"/>
            </a:endParaRPr>
          </a:p>
        </p:txBody>
      </p:sp>
      <p:sp>
        <p:nvSpPr>
          <p:cNvPr id="14" name="Shape 12"/>
          <p:cNvSpPr/>
          <p:nvPr/>
        </p:nvSpPr>
        <p:spPr>
          <a:xfrm>
            <a:off x="8101584" y="1389888"/>
            <a:ext cx="3538728" cy="1975104"/>
          </a:xfrm>
          <a:prstGeom prst="roundRect">
            <a:avLst>
              <a:gd name="adj" fmla="val 3704"/>
            </a:avLst>
          </a:prstGeom>
          <a:solidFill>
            <a:srgbClr val="FFFFFF"/>
          </a:solidFill>
          <a:ln w="9525">
            <a:solidFill>
              <a:srgbClr val="D6DFE1"/>
            </a:solidFill>
            <a:prstDash val="solid"/>
          </a:ln>
        </p:spPr>
      </p:sp>
      <p:sp>
        <p:nvSpPr>
          <p:cNvPr id="15" name="Text 13"/>
          <p:cNvSpPr txBox="1"/>
          <p:nvPr/>
        </p:nvSpPr>
        <p:spPr>
          <a:xfrm>
            <a:off x="8321040" y="1554480"/>
            <a:ext cx="3099816" cy="274320"/>
          </a:xfrm>
          <a:prstGeom prst="rect">
            <a:avLst/>
          </a:prstGeom>
          <a:noFill/>
          <a:ln/>
        </p:spPr>
        <p:txBody>
          <a:bodyPr wrap="square" lIns="0" tIns="0" rIns="0" bIns="0" rtlCol="0" anchor="ctr"/>
          <a:lstStyle/>
          <a:p>
            <a:pPr marL="0" indent="0">
              <a:buNone/>
            </a:pPr>
            <a:r>
              <a:rPr lang="en-US" b="1" dirty="0">
                <a:solidFill>
                  <a:srgbClr val="10333F"/>
                </a:solidFill>
                <a:latin typeface="Cambria" panose="02040503050406030204" pitchFamily="18" charset="0"/>
                <a:ea typeface="Cambria" panose="02040503050406030204" pitchFamily="18" charset="0"/>
                <a:cs typeface="Cambria" pitchFamily="34" charset="-120"/>
              </a:rPr>
              <a:t>Ganesh, 38</a:t>
            </a:r>
            <a:endParaRPr lang="en-US" dirty="0">
              <a:latin typeface="Cambria" panose="02040503050406030204" pitchFamily="18" charset="0"/>
              <a:ea typeface="Cambria" panose="02040503050406030204" pitchFamily="18" charset="0"/>
            </a:endParaRPr>
          </a:p>
        </p:txBody>
      </p:sp>
      <p:sp>
        <p:nvSpPr>
          <p:cNvPr id="16" name="Text 14"/>
          <p:cNvSpPr txBox="1"/>
          <p:nvPr/>
        </p:nvSpPr>
        <p:spPr>
          <a:xfrm>
            <a:off x="8321040" y="1847088"/>
            <a:ext cx="3099816" cy="256032"/>
          </a:xfrm>
          <a:prstGeom prst="rect">
            <a:avLst/>
          </a:prstGeom>
          <a:noFill/>
          <a:ln/>
        </p:spPr>
        <p:txBody>
          <a:bodyPr wrap="square" lIns="0" tIns="0" rIns="0" bIns="0" rtlCol="0" anchor="ctr"/>
          <a:lstStyle/>
          <a:p>
            <a:pPr marL="0" indent="0">
              <a:buNone/>
            </a:pPr>
            <a:r>
              <a:rPr lang="en-US" sz="1400" b="1" dirty="0">
                <a:solidFill>
                  <a:srgbClr val="2E7D74"/>
                </a:solidFill>
                <a:latin typeface="Cambria" panose="02040503050406030204" pitchFamily="18" charset="0"/>
                <a:ea typeface="Cambria" panose="02040503050406030204" pitchFamily="18" charset="0"/>
                <a:cs typeface="Calibri" pitchFamily="34" charset="-120"/>
              </a:rPr>
              <a:t>Self-employed, no premises</a:t>
            </a:r>
            <a:endParaRPr lang="en-US" sz="1400" dirty="0">
              <a:latin typeface="Cambria" panose="02040503050406030204" pitchFamily="18" charset="0"/>
              <a:ea typeface="Cambria" panose="02040503050406030204" pitchFamily="18" charset="0"/>
            </a:endParaRPr>
          </a:p>
        </p:txBody>
      </p:sp>
      <p:sp>
        <p:nvSpPr>
          <p:cNvPr id="17" name="Text 15"/>
          <p:cNvSpPr txBox="1"/>
          <p:nvPr/>
        </p:nvSpPr>
        <p:spPr>
          <a:xfrm>
            <a:off x="8321040" y="2157984"/>
            <a:ext cx="3099816" cy="694944"/>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Drives a cab. There is no door, no signboard, nothing to photograph.</a:t>
            </a:r>
            <a:endParaRPr lang="en-US" sz="1400" dirty="0">
              <a:latin typeface="Cambria" panose="02040503050406030204" pitchFamily="18" charset="0"/>
              <a:ea typeface="Cambria" panose="02040503050406030204" pitchFamily="18" charset="0"/>
            </a:endParaRPr>
          </a:p>
        </p:txBody>
      </p:sp>
      <p:sp>
        <p:nvSpPr>
          <p:cNvPr id="18" name="Text 16"/>
          <p:cNvSpPr txBox="1"/>
          <p:nvPr/>
        </p:nvSpPr>
        <p:spPr>
          <a:xfrm>
            <a:off x="8321040" y="2944368"/>
            <a:ext cx="3099816" cy="274320"/>
          </a:xfrm>
          <a:prstGeom prst="rect">
            <a:avLst/>
          </a:prstGeom>
          <a:noFill/>
          <a:ln/>
        </p:spPr>
        <p:txBody>
          <a:bodyPr wrap="square" lIns="0" tIns="0" rIns="0" bIns="0" rtlCol="0" anchor="ctr"/>
          <a:lstStyle/>
          <a:p>
            <a:pPr marL="0" indent="0">
              <a:buNone/>
            </a:pPr>
            <a:r>
              <a:rPr lang="en-US" sz="1200" b="1" dirty="0">
                <a:solidFill>
                  <a:srgbClr val="C2571A"/>
                </a:solidFill>
                <a:latin typeface="Cambria" panose="02040503050406030204" pitchFamily="18" charset="0"/>
                <a:ea typeface="Cambria" panose="02040503050406030204" pitchFamily="18" charset="0"/>
                <a:cs typeface="Calibri" pitchFamily="34" charset="-120"/>
              </a:rPr>
              <a:t>Breaks on: exclusion</a:t>
            </a:r>
            <a:endParaRPr lang="en-US" sz="1200" dirty="0">
              <a:latin typeface="Cambria" panose="02040503050406030204" pitchFamily="18" charset="0"/>
              <a:ea typeface="Cambria" panose="02040503050406030204" pitchFamily="18" charset="0"/>
            </a:endParaRPr>
          </a:p>
        </p:txBody>
      </p:sp>
      <p:sp>
        <p:nvSpPr>
          <p:cNvPr id="19" name="Shape 17"/>
          <p:cNvSpPr/>
          <p:nvPr/>
        </p:nvSpPr>
        <p:spPr>
          <a:xfrm>
            <a:off x="566928" y="3621024"/>
            <a:ext cx="3538728" cy="1975104"/>
          </a:xfrm>
          <a:prstGeom prst="roundRect">
            <a:avLst>
              <a:gd name="adj" fmla="val 3704"/>
            </a:avLst>
          </a:prstGeom>
          <a:solidFill>
            <a:srgbClr val="FFFFFF"/>
          </a:solidFill>
          <a:ln w="9525">
            <a:solidFill>
              <a:srgbClr val="D6DFE1"/>
            </a:solidFill>
            <a:prstDash val="solid"/>
          </a:ln>
        </p:spPr>
      </p:sp>
      <p:sp>
        <p:nvSpPr>
          <p:cNvPr id="20" name="Text 18"/>
          <p:cNvSpPr txBox="1"/>
          <p:nvPr/>
        </p:nvSpPr>
        <p:spPr>
          <a:xfrm>
            <a:off x="786384" y="3785616"/>
            <a:ext cx="3099816" cy="274320"/>
          </a:xfrm>
          <a:prstGeom prst="rect">
            <a:avLst/>
          </a:prstGeom>
          <a:noFill/>
          <a:ln/>
        </p:spPr>
        <p:txBody>
          <a:bodyPr wrap="square" lIns="0" tIns="0" rIns="0" bIns="0" rtlCol="0" anchor="ctr"/>
          <a:lstStyle/>
          <a:p>
            <a:pPr marL="0" indent="0">
              <a:buNone/>
            </a:pPr>
            <a:r>
              <a:rPr lang="en-US" b="1" dirty="0">
                <a:solidFill>
                  <a:srgbClr val="10333F"/>
                </a:solidFill>
                <a:latin typeface="Cambria" panose="02040503050406030204" pitchFamily="18" charset="0"/>
                <a:ea typeface="Cambria" panose="02040503050406030204" pitchFamily="18" charset="0"/>
                <a:cs typeface="Cambria" pitchFamily="34" charset="-120"/>
              </a:rPr>
              <a:t>Meera, 34</a:t>
            </a:r>
            <a:endParaRPr lang="en-US" dirty="0">
              <a:latin typeface="Cambria" panose="02040503050406030204" pitchFamily="18" charset="0"/>
              <a:ea typeface="Cambria" panose="02040503050406030204" pitchFamily="18" charset="0"/>
            </a:endParaRPr>
          </a:p>
        </p:txBody>
      </p:sp>
      <p:sp>
        <p:nvSpPr>
          <p:cNvPr id="21" name="Text 19"/>
          <p:cNvSpPr txBox="1"/>
          <p:nvPr/>
        </p:nvSpPr>
        <p:spPr>
          <a:xfrm>
            <a:off x="786384" y="4078224"/>
            <a:ext cx="3099816" cy="256032"/>
          </a:xfrm>
          <a:prstGeom prst="rect">
            <a:avLst/>
          </a:prstGeom>
          <a:noFill/>
          <a:ln/>
        </p:spPr>
        <p:txBody>
          <a:bodyPr wrap="square" lIns="0" tIns="0" rIns="0" bIns="0" rtlCol="0" anchor="ctr"/>
          <a:lstStyle/>
          <a:p>
            <a:pPr marL="0" indent="0">
              <a:buNone/>
            </a:pPr>
            <a:r>
              <a:rPr lang="en-US" sz="1400" b="1" dirty="0">
                <a:solidFill>
                  <a:srgbClr val="2E7D74"/>
                </a:solidFill>
                <a:latin typeface="Cambria" panose="02040503050406030204" pitchFamily="18" charset="0"/>
                <a:ea typeface="Cambria" panose="02040503050406030204" pitchFamily="18" charset="0"/>
                <a:cs typeface="Calibri" pitchFamily="34" charset="-120"/>
              </a:rPr>
              <a:t>Tailoring from home</a:t>
            </a:r>
            <a:endParaRPr lang="en-US" sz="1400" dirty="0">
              <a:latin typeface="Cambria" panose="02040503050406030204" pitchFamily="18" charset="0"/>
              <a:ea typeface="Cambria" panose="02040503050406030204" pitchFamily="18" charset="0"/>
            </a:endParaRPr>
          </a:p>
        </p:txBody>
      </p:sp>
      <p:sp>
        <p:nvSpPr>
          <p:cNvPr id="22" name="Text 20"/>
          <p:cNvSpPr txBox="1"/>
          <p:nvPr/>
        </p:nvSpPr>
        <p:spPr>
          <a:xfrm>
            <a:off x="786384" y="4389120"/>
            <a:ext cx="3099816" cy="694944"/>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Home is the business. The phone belongs to her husband.</a:t>
            </a:r>
            <a:endParaRPr lang="en-US" sz="1400" dirty="0">
              <a:latin typeface="Cambria" panose="02040503050406030204" pitchFamily="18" charset="0"/>
              <a:ea typeface="Cambria" panose="02040503050406030204" pitchFamily="18" charset="0"/>
            </a:endParaRPr>
          </a:p>
        </p:txBody>
      </p:sp>
      <p:sp>
        <p:nvSpPr>
          <p:cNvPr id="23" name="Text 21"/>
          <p:cNvSpPr txBox="1"/>
          <p:nvPr/>
        </p:nvSpPr>
        <p:spPr>
          <a:xfrm>
            <a:off x="786384" y="5175504"/>
            <a:ext cx="3099816" cy="274320"/>
          </a:xfrm>
          <a:prstGeom prst="rect">
            <a:avLst/>
          </a:prstGeom>
          <a:noFill/>
          <a:ln/>
        </p:spPr>
        <p:txBody>
          <a:bodyPr wrap="square" lIns="0" tIns="0" rIns="0" bIns="0" rtlCol="0" anchor="ctr"/>
          <a:lstStyle/>
          <a:p>
            <a:pPr marL="0" indent="0">
              <a:buNone/>
            </a:pPr>
            <a:r>
              <a:rPr lang="en-US" sz="1200" b="1" dirty="0">
                <a:solidFill>
                  <a:srgbClr val="C2571A"/>
                </a:solidFill>
                <a:latin typeface="Cambria" panose="02040503050406030204" pitchFamily="18" charset="0"/>
                <a:ea typeface="Cambria" panose="02040503050406030204" pitchFamily="18" charset="0"/>
                <a:cs typeface="Calibri" pitchFamily="34" charset="-120"/>
              </a:rPr>
              <a:t>Breaks on: duplicate ask</a:t>
            </a:r>
            <a:endParaRPr lang="en-US" sz="1200" dirty="0">
              <a:latin typeface="Cambria" panose="02040503050406030204" pitchFamily="18" charset="0"/>
              <a:ea typeface="Cambria" panose="02040503050406030204" pitchFamily="18" charset="0"/>
            </a:endParaRPr>
          </a:p>
        </p:txBody>
      </p:sp>
      <p:sp>
        <p:nvSpPr>
          <p:cNvPr id="24" name="Shape 22"/>
          <p:cNvSpPr/>
          <p:nvPr/>
        </p:nvSpPr>
        <p:spPr>
          <a:xfrm>
            <a:off x="4334256" y="3621024"/>
            <a:ext cx="3538728" cy="1975104"/>
          </a:xfrm>
          <a:prstGeom prst="roundRect">
            <a:avLst>
              <a:gd name="adj" fmla="val 3704"/>
            </a:avLst>
          </a:prstGeom>
          <a:solidFill>
            <a:srgbClr val="FFFFFF"/>
          </a:solidFill>
          <a:ln w="9525">
            <a:solidFill>
              <a:srgbClr val="D6DFE1"/>
            </a:solidFill>
            <a:prstDash val="solid"/>
          </a:ln>
        </p:spPr>
      </p:sp>
      <p:sp>
        <p:nvSpPr>
          <p:cNvPr id="25" name="Text 23"/>
          <p:cNvSpPr txBox="1"/>
          <p:nvPr/>
        </p:nvSpPr>
        <p:spPr>
          <a:xfrm>
            <a:off x="4553712" y="3785616"/>
            <a:ext cx="3099816" cy="274320"/>
          </a:xfrm>
          <a:prstGeom prst="rect">
            <a:avLst/>
          </a:prstGeom>
          <a:noFill/>
          <a:ln/>
        </p:spPr>
        <p:txBody>
          <a:bodyPr wrap="square" lIns="0" tIns="0" rIns="0" bIns="0" rtlCol="0" anchor="ctr"/>
          <a:lstStyle/>
          <a:p>
            <a:pPr marL="0" indent="0">
              <a:buNone/>
            </a:pPr>
            <a:r>
              <a:rPr lang="en-US" b="1" dirty="0">
                <a:solidFill>
                  <a:srgbClr val="10333F"/>
                </a:solidFill>
                <a:latin typeface="Cambria" panose="02040503050406030204" pitchFamily="18" charset="0"/>
                <a:ea typeface="Cambria" panose="02040503050406030204" pitchFamily="18" charset="0"/>
                <a:cs typeface="Cambria" pitchFamily="34" charset="-120"/>
              </a:rPr>
              <a:t>Bhaskar, 52</a:t>
            </a:r>
            <a:endParaRPr lang="en-US" dirty="0">
              <a:latin typeface="Cambria" panose="02040503050406030204" pitchFamily="18" charset="0"/>
              <a:ea typeface="Cambria" panose="02040503050406030204" pitchFamily="18" charset="0"/>
            </a:endParaRPr>
          </a:p>
        </p:txBody>
      </p:sp>
      <p:sp>
        <p:nvSpPr>
          <p:cNvPr id="26" name="Text 24"/>
          <p:cNvSpPr txBox="1"/>
          <p:nvPr/>
        </p:nvSpPr>
        <p:spPr>
          <a:xfrm>
            <a:off x="4553712" y="4078224"/>
            <a:ext cx="3099816" cy="256032"/>
          </a:xfrm>
          <a:prstGeom prst="rect">
            <a:avLst/>
          </a:prstGeom>
          <a:noFill/>
          <a:ln/>
        </p:spPr>
        <p:txBody>
          <a:bodyPr wrap="square" lIns="0" tIns="0" rIns="0" bIns="0" rtlCol="0" anchor="ctr"/>
          <a:lstStyle/>
          <a:p>
            <a:pPr marL="0" indent="0">
              <a:buNone/>
            </a:pPr>
            <a:r>
              <a:rPr lang="en-US" sz="1400" b="1" dirty="0">
                <a:solidFill>
                  <a:srgbClr val="2E7D74"/>
                </a:solidFill>
                <a:latin typeface="Cambria" panose="02040503050406030204" pitchFamily="18" charset="0"/>
                <a:ea typeface="Cambria" panose="02040503050406030204" pitchFamily="18" charset="0"/>
                <a:cs typeface="Calibri" pitchFamily="34" charset="-120"/>
              </a:rPr>
              <a:t>Low digital confidence</a:t>
            </a:r>
            <a:endParaRPr lang="en-US" sz="1400" dirty="0">
              <a:latin typeface="Cambria" panose="02040503050406030204" pitchFamily="18" charset="0"/>
              <a:ea typeface="Cambria" panose="02040503050406030204" pitchFamily="18" charset="0"/>
            </a:endParaRPr>
          </a:p>
        </p:txBody>
      </p:sp>
      <p:sp>
        <p:nvSpPr>
          <p:cNvPr id="27" name="Text 25"/>
          <p:cNvSpPr txBox="1"/>
          <p:nvPr/>
        </p:nvSpPr>
        <p:spPr>
          <a:xfrm>
            <a:off x="4553712" y="4389120"/>
            <a:ext cx="3099816" cy="694944"/>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Reads Marathi slowly, no English. Three-year-old handset, 8GB free.</a:t>
            </a:r>
            <a:endParaRPr lang="en-US" sz="1400" dirty="0">
              <a:latin typeface="Cambria" panose="02040503050406030204" pitchFamily="18" charset="0"/>
              <a:ea typeface="Cambria" panose="02040503050406030204" pitchFamily="18" charset="0"/>
            </a:endParaRPr>
          </a:p>
        </p:txBody>
      </p:sp>
      <p:sp>
        <p:nvSpPr>
          <p:cNvPr id="28" name="Text 26"/>
          <p:cNvSpPr txBox="1"/>
          <p:nvPr/>
        </p:nvSpPr>
        <p:spPr>
          <a:xfrm>
            <a:off x="4553712" y="5175504"/>
            <a:ext cx="3099816" cy="274320"/>
          </a:xfrm>
          <a:prstGeom prst="rect">
            <a:avLst/>
          </a:prstGeom>
          <a:noFill/>
          <a:ln/>
        </p:spPr>
        <p:txBody>
          <a:bodyPr wrap="square" lIns="0" tIns="0" rIns="0" bIns="0" rtlCol="0" anchor="ctr"/>
          <a:lstStyle/>
          <a:p>
            <a:pPr marL="0" indent="0">
              <a:buNone/>
            </a:pPr>
            <a:r>
              <a:rPr lang="en-US" sz="1200" b="1" dirty="0">
                <a:solidFill>
                  <a:srgbClr val="C2571A"/>
                </a:solidFill>
                <a:latin typeface="Cambria" panose="02040503050406030204" pitchFamily="18" charset="0"/>
                <a:ea typeface="Cambria" panose="02040503050406030204" pitchFamily="18" charset="0"/>
                <a:cs typeface="Calibri" pitchFamily="34" charset="-120"/>
              </a:rPr>
              <a:t>Breaks on: never starting</a:t>
            </a:r>
            <a:endParaRPr lang="en-US" sz="1200" dirty="0">
              <a:latin typeface="Cambria" panose="02040503050406030204" pitchFamily="18" charset="0"/>
              <a:ea typeface="Cambria" panose="02040503050406030204" pitchFamily="18" charset="0"/>
            </a:endParaRPr>
          </a:p>
        </p:txBody>
      </p:sp>
      <p:sp>
        <p:nvSpPr>
          <p:cNvPr id="29" name="Shape 27"/>
          <p:cNvSpPr/>
          <p:nvPr/>
        </p:nvSpPr>
        <p:spPr>
          <a:xfrm>
            <a:off x="8101584" y="3621024"/>
            <a:ext cx="3538728" cy="1975104"/>
          </a:xfrm>
          <a:prstGeom prst="roundRect">
            <a:avLst>
              <a:gd name="adj" fmla="val 3704"/>
            </a:avLst>
          </a:prstGeom>
          <a:solidFill>
            <a:srgbClr val="10333F"/>
          </a:solidFill>
          <a:ln/>
        </p:spPr>
      </p:sp>
      <p:sp>
        <p:nvSpPr>
          <p:cNvPr id="30" name="Text 28"/>
          <p:cNvSpPr txBox="1"/>
          <p:nvPr/>
        </p:nvSpPr>
        <p:spPr>
          <a:xfrm>
            <a:off x="8321040" y="3785616"/>
            <a:ext cx="3099816" cy="274320"/>
          </a:xfrm>
          <a:prstGeom prst="rect">
            <a:avLst/>
          </a:prstGeom>
          <a:noFill/>
          <a:ln/>
        </p:spPr>
        <p:txBody>
          <a:bodyPr wrap="square" lIns="0" tIns="0" rIns="0" bIns="0" rtlCol="0" anchor="ctr"/>
          <a:lstStyle/>
          <a:p>
            <a:pPr marL="0" indent="0">
              <a:buNone/>
            </a:pPr>
            <a:r>
              <a:rPr lang="en-US" b="1" dirty="0">
                <a:solidFill>
                  <a:srgbClr val="FFFFFF"/>
                </a:solidFill>
                <a:latin typeface="Cambria" panose="02040503050406030204" pitchFamily="18" charset="0"/>
                <a:ea typeface="Cambria" panose="02040503050406030204" pitchFamily="18" charset="0"/>
                <a:cs typeface="Cambria" pitchFamily="34" charset="-120"/>
              </a:rPr>
              <a:t>Cross-cutting modifiers</a:t>
            </a:r>
            <a:endParaRPr lang="en-US" dirty="0">
              <a:latin typeface="Cambria" panose="02040503050406030204" pitchFamily="18" charset="0"/>
              <a:ea typeface="Cambria" panose="02040503050406030204" pitchFamily="18" charset="0"/>
            </a:endParaRPr>
          </a:p>
        </p:txBody>
      </p:sp>
      <p:sp>
        <p:nvSpPr>
          <p:cNvPr id="31" name="Text 29"/>
          <p:cNvSpPr txBox="1"/>
          <p:nvPr/>
        </p:nvSpPr>
        <p:spPr>
          <a:xfrm>
            <a:off x="8357616" y="4151376"/>
            <a:ext cx="3081528"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C9DDE0"/>
                </a:solidFill>
                <a:latin typeface="Cambria" panose="02040503050406030204" pitchFamily="18" charset="0"/>
                <a:ea typeface="Cambria" panose="02040503050406030204" pitchFamily="18" charset="0"/>
                <a:cs typeface="Calibri" pitchFamily="34" charset="-120"/>
              </a:rPr>
              <a:t>Entry-level Android, low storage, battery saver killing uploads</a:t>
            </a:r>
            <a:endParaRPr lang="en-US" sz="1200" dirty="0">
              <a:latin typeface="Cambria" panose="02040503050406030204" pitchFamily="18" charset="0"/>
              <a:ea typeface="Cambria" panose="02040503050406030204" pitchFamily="18" charset="0"/>
            </a:endParaRPr>
          </a:p>
          <a:p>
            <a:pPr marL="342900" indent="-342900">
              <a:spcAft>
                <a:spcPts val="600"/>
              </a:spcAft>
              <a:buSzPct val="100000"/>
              <a:buChar char="•"/>
            </a:pPr>
            <a:r>
              <a:rPr lang="en-US" sz="1200" dirty="0">
                <a:solidFill>
                  <a:srgbClr val="C9DDE0"/>
                </a:solidFill>
                <a:latin typeface="Cambria" panose="02040503050406030204" pitchFamily="18" charset="0"/>
                <a:ea typeface="Cambria" panose="02040503050406030204" pitchFamily="18" charset="0"/>
                <a:cs typeface="Calibri" pitchFamily="34" charset="-120"/>
              </a:rPr>
              <a:t>A language other than English or Hindi, and low reading confidence</a:t>
            </a:r>
            <a:endParaRPr lang="en-US" sz="1200" dirty="0">
              <a:latin typeface="Cambria" panose="02040503050406030204" pitchFamily="18" charset="0"/>
              <a:ea typeface="Cambria" panose="02040503050406030204" pitchFamily="18" charset="0"/>
            </a:endParaRPr>
          </a:p>
          <a:p>
            <a:pPr marL="342900" indent="-342900">
              <a:spcAft>
                <a:spcPts val="600"/>
              </a:spcAft>
              <a:buSzPct val="100000"/>
              <a:buChar char="•"/>
            </a:pPr>
            <a:r>
              <a:rPr lang="en-US" sz="1200" dirty="0">
                <a:solidFill>
                  <a:srgbClr val="C9DDE0"/>
                </a:solidFill>
                <a:latin typeface="Cambria" panose="02040503050406030204" pitchFamily="18" charset="0"/>
                <a:ea typeface="Cambria" panose="02040503050406030204" pitchFamily="18" charset="0"/>
                <a:cs typeface="Calibri" pitchFamily="34" charset="-120"/>
              </a:rPr>
              <a:t>A phone owned by someone else in the household</a:t>
            </a:r>
            <a:endParaRPr lang="en-US" sz="1200" dirty="0">
              <a:latin typeface="Cambria" panose="02040503050406030204" pitchFamily="18" charset="0"/>
              <a:ea typeface="Cambria" panose="02040503050406030204" pitchFamily="18" charset="0"/>
            </a:endParaRPr>
          </a:p>
        </p:txBody>
      </p:sp>
      <p:sp>
        <p:nvSpPr>
          <p:cNvPr id="32" name="Text 30"/>
          <p:cNvSpPr txBox="1"/>
          <p:nvPr/>
        </p:nvSpPr>
        <p:spPr>
          <a:xfrm>
            <a:off x="566928" y="5870448"/>
            <a:ext cx="11057839" cy="603504"/>
          </a:xfrm>
          <a:prstGeom prst="rect">
            <a:avLst/>
          </a:prstGeom>
          <a:noFill/>
          <a:ln/>
        </p:spPr>
        <p:txBody>
          <a:bodyPr wrap="square" lIns="0" tIns="0" rIns="0" bIns="0" rtlCol="0" anchor="ctr"/>
          <a:lstStyle/>
          <a:p>
            <a:pPr marL="0" indent="0">
              <a:buNone/>
            </a:pPr>
            <a:r>
              <a:rPr lang="en-US" sz="1600" i="1" dirty="0">
                <a:solidFill>
                  <a:srgbClr val="C2571A"/>
                </a:solidFill>
                <a:latin typeface="Cambria" panose="02040503050406030204" pitchFamily="18" charset="0"/>
                <a:ea typeface="Cambria" panose="02040503050406030204" pitchFamily="18" charset="0"/>
                <a:cs typeface="Calibri" pitchFamily="34" charset="-120"/>
              </a:rPr>
              <a:t>These modifiers determine completion far more than persona does and they decide whether audio-led guidance is an accessibility feature or the primary interaction.</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One journey, parameterised by premises type</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Residential and business are branches of a single flow - not two products to build and maintain.</a:t>
            </a:r>
            <a:endParaRPr lang="en-US" sz="1400" dirty="0">
              <a:latin typeface="Cambria" panose="02040503050406030204" pitchFamily="18" charset="0"/>
              <a:ea typeface="Cambria" panose="02040503050406030204" pitchFamily="18" charset="0"/>
            </a:endParaRPr>
          </a:p>
        </p:txBody>
      </p:sp>
      <p:sp>
        <p:nvSpPr>
          <p:cNvPr id="4" name="Shape 2"/>
          <p:cNvSpPr/>
          <p:nvPr/>
        </p:nvSpPr>
        <p:spPr>
          <a:xfrm>
            <a:off x="566928" y="1371600"/>
            <a:ext cx="2029968" cy="2057400"/>
          </a:xfrm>
          <a:prstGeom prst="roundRect">
            <a:avLst>
              <a:gd name="adj" fmla="val 3604"/>
            </a:avLst>
          </a:prstGeom>
          <a:solidFill>
            <a:srgbClr val="F7F9F9"/>
          </a:solidFill>
          <a:ln w="9525">
            <a:solidFill>
              <a:srgbClr val="D6DFE1"/>
            </a:solidFill>
            <a:prstDash val="solid"/>
          </a:ln>
        </p:spPr>
      </p:sp>
      <p:sp>
        <p:nvSpPr>
          <p:cNvPr id="5" name="Shape 3"/>
          <p:cNvSpPr/>
          <p:nvPr/>
        </p:nvSpPr>
        <p:spPr>
          <a:xfrm>
            <a:off x="731520" y="1536192"/>
            <a:ext cx="292608" cy="292608"/>
          </a:xfrm>
          <a:prstGeom prst="ellipse">
            <a:avLst/>
          </a:prstGeom>
          <a:solidFill>
            <a:srgbClr val="2E7D74"/>
          </a:solidFill>
          <a:ln/>
        </p:spPr>
      </p:sp>
      <p:sp>
        <p:nvSpPr>
          <p:cNvPr id="6" name="Text 4"/>
          <p:cNvSpPr txBox="1"/>
          <p:nvPr/>
        </p:nvSpPr>
        <p:spPr>
          <a:xfrm>
            <a:off x="731520" y="153619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1</a:t>
            </a:r>
            <a:endParaRPr lang="en-US" sz="1200" dirty="0">
              <a:latin typeface="Cambria" panose="02040503050406030204" pitchFamily="18" charset="0"/>
              <a:ea typeface="Cambria" panose="02040503050406030204" pitchFamily="18" charset="0"/>
            </a:endParaRPr>
          </a:p>
        </p:txBody>
      </p:sp>
      <p:sp>
        <p:nvSpPr>
          <p:cNvPr id="7" name="Text 5"/>
          <p:cNvSpPr txBox="1"/>
          <p:nvPr/>
        </p:nvSpPr>
        <p:spPr>
          <a:xfrm>
            <a:off x="731520" y="1788160"/>
            <a:ext cx="1700784" cy="457200"/>
          </a:xfrm>
          <a:prstGeom prst="rect">
            <a:avLst/>
          </a:prstGeom>
          <a:noFill/>
          <a:ln/>
        </p:spPr>
        <p:txBody>
          <a:bodyPr wrap="square" lIns="0" tIns="0" rIns="0" bIns="0" rtlCol="0" anchor="ctr"/>
          <a:lstStyle/>
          <a:p>
            <a:pPr marL="0" indent="0">
              <a:buNone/>
            </a:pPr>
            <a:r>
              <a:rPr lang="en-US" sz="1400" b="1" dirty="0">
                <a:solidFill>
                  <a:srgbClr val="10333F"/>
                </a:solidFill>
                <a:latin typeface="Cambria" panose="02040503050406030204" pitchFamily="18" charset="0"/>
                <a:ea typeface="Cambria" panose="02040503050406030204" pitchFamily="18" charset="0"/>
                <a:cs typeface="Calibri" pitchFamily="34" charset="-120"/>
              </a:rPr>
              <a:t>Reach and schedule</a:t>
            </a:r>
            <a:endParaRPr lang="en-US" sz="1400" dirty="0">
              <a:latin typeface="Cambria" panose="02040503050406030204" pitchFamily="18" charset="0"/>
              <a:ea typeface="Cambria" panose="02040503050406030204" pitchFamily="18" charset="0"/>
            </a:endParaRPr>
          </a:p>
        </p:txBody>
      </p:sp>
      <p:sp>
        <p:nvSpPr>
          <p:cNvPr id="8" name="Text 6"/>
          <p:cNvSpPr txBox="1"/>
          <p:nvPr/>
        </p:nvSpPr>
        <p:spPr>
          <a:xfrm>
            <a:off x="731520" y="2296160"/>
            <a:ext cx="1700784" cy="960120"/>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Arrives as a link on SMS and email, no install to get past. Customer picks the moment, because they must physically be there.</a:t>
            </a:r>
            <a:endParaRPr lang="en-US" sz="1200" dirty="0">
              <a:latin typeface="Cambria" panose="02040503050406030204" pitchFamily="18" charset="0"/>
              <a:ea typeface="Cambria" panose="02040503050406030204" pitchFamily="18" charset="0"/>
            </a:endParaRPr>
          </a:p>
        </p:txBody>
      </p:sp>
      <p:sp>
        <p:nvSpPr>
          <p:cNvPr id="9" name="Shape 7"/>
          <p:cNvSpPr/>
          <p:nvPr/>
        </p:nvSpPr>
        <p:spPr>
          <a:xfrm>
            <a:off x="2825496" y="1371600"/>
            <a:ext cx="2029968" cy="2057400"/>
          </a:xfrm>
          <a:prstGeom prst="roundRect">
            <a:avLst>
              <a:gd name="adj" fmla="val 3604"/>
            </a:avLst>
          </a:prstGeom>
          <a:solidFill>
            <a:srgbClr val="F7F9F9"/>
          </a:solidFill>
          <a:ln w="9525">
            <a:solidFill>
              <a:srgbClr val="D6DFE1"/>
            </a:solidFill>
            <a:prstDash val="solid"/>
          </a:ln>
        </p:spPr>
      </p:sp>
      <p:sp>
        <p:nvSpPr>
          <p:cNvPr id="10" name="Shape 8"/>
          <p:cNvSpPr/>
          <p:nvPr/>
        </p:nvSpPr>
        <p:spPr>
          <a:xfrm>
            <a:off x="2990088" y="1536192"/>
            <a:ext cx="292608" cy="292608"/>
          </a:xfrm>
          <a:prstGeom prst="ellipse">
            <a:avLst/>
          </a:prstGeom>
          <a:solidFill>
            <a:srgbClr val="2E7D74"/>
          </a:solidFill>
          <a:ln/>
        </p:spPr>
      </p:sp>
      <p:sp>
        <p:nvSpPr>
          <p:cNvPr id="11" name="Text 9"/>
          <p:cNvSpPr txBox="1"/>
          <p:nvPr/>
        </p:nvSpPr>
        <p:spPr>
          <a:xfrm>
            <a:off x="2990088" y="153619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2</a:t>
            </a:r>
            <a:endParaRPr lang="en-US" sz="1200" dirty="0">
              <a:latin typeface="Cambria" panose="02040503050406030204" pitchFamily="18" charset="0"/>
              <a:ea typeface="Cambria" panose="02040503050406030204" pitchFamily="18" charset="0"/>
            </a:endParaRPr>
          </a:p>
        </p:txBody>
      </p:sp>
      <p:sp>
        <p:nvSpPr>
          <p:cNvPr id="12" name="Text 10"/>
          <p:cNvSpPr txBox="1"/>
          <p:nvPr/>
        </p:nvSpPr>
        <p:spPr>
          <a:xfrm>
            <a:off x="2990088" y="1788160"/>
            <a:ext cx="2093976" cy="457200"/>
          </a:xfrm>
          <a:prstGeom prst="rect">
            <a:avLst/>
          </a:prstGeom>
          <a:noFill/>
          <a:ln/>
        </p:spPr>
        <p:txBody>
          <a:bodyPr wrap="square" lIns="0" tIns="0" rIns="0" bIns="0" rtlCol="0" anchor="ctr"/>
          <a:lstStyle/>
          <a:p>
            <a:pPr marL="0" indent="0">
              <a:buNone/>
            </a:pPr>
            <a:r>
              <a:rPr lang="en-US" sz="1400" b="1" dirty="0">
                <a:solidFill>
                  <a:srgbClr val="10333F"/>
                </a:solidFill>
                <a:latin typeface="Cambria" panose="02040503050406030204" pitchFamily="18" charset="0"/>
                <a:ea typeface="Cambria" panose="02040503050406030204" pitchFamily="18" charset="0"/>
                <a:cs typeface="Calibri" pitchFamily="34" charset="-120"/>
              </a:rPr>
              <a:t>Consent and pre-flight</a:t>
            </a:r>
            <a:endParaRPr lang="en-US" sz="1400" dirty="0">
              <a:latin typeface="Cambria" panose="02040503050406030204" pitchFamily="18" charset="0"/>
              <a:ea typeface="Cambria" panose="02040503050406030204" pitchFamily="18" charset="0"/>
            </a:endParaRPr>
          </a:p>
        </p:txBody>
      </p:sp>
      <p:sp>
        <p:nvSpPr>
          <p:cNvPr id="13" name="Text 11"/>
          <p:cNvSpPr txBox="1"/>
          <p:nvPr/>
        </p:nvSpPr>
        <p:spPr>
          <a:xfrm>
            <a:off x="2990088" y="2296160"/>
            <a:ext cx="1700784" cy="960120"/>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Plain-language purpose, then permissions, GPS lock, storage and bandwidth checked before they walk outside.</a:t>
            </a:r>
            <a:endParaRPr lang="en-US" sz="1200" dirty="0">
              <a:latin typeface="Cambria" panose="02040503050406030204" pitchFamily="18" charset="0"/>
              <a:ea typeface="Cambria" panose="02040503050406030204" pitchFamily="18" charset="0"/>
            </a:endParaRPr>
          </a:p>
        </p:txBody>
      </p:sp>
      <p:sp>
        <p:nvSpPr>
          <p:cNvPr id="14" name="Shape 12"/>
          <p:cNvSpPr/>
          <p:nvPr/>
        </p:nvSpPr>
        <p:spPr>
          <a:xfrm>
            <a:off x="5084064" y="1371600"/>
            <a:ext cx="2029968" cy="2057400"/>
          </a:xfrm>
          <a:prstGeom prst="roundRect">
            <a:avLst>
              <a:gd name="adj" fmla="val 3604"/>
            </a:avLst>
          </a:prstGeom>
          <a:solidFill>
            <a:srgbClr val="F7F9F9"/>
          </a:solidFill>
          <a:ln w="9525">
            <a:solidFill>
              <a:srgbClr val="D6DFE1"/>
            </a:solidFill>
            <a:prstDash val="solid"/>
          </a:ln>
        </p:spPr>
      </p:sp>
      <p:sp>
        <p:nvSpPr>
          <p:cNvPr id="15" name="Shape 13"/>
          <p:cNvSpPr/>
          <p:nvPr/>
        </p:nvSpPr>
        <p:spPr>
          <a:xfrm>
            <a:off x="5248656" y="1536192"/>
            <a:ext cx="292608" cy="292608"/>
          </a:xfrm>
          <a:prstGeom prst="ellipse">
            <a:avLst/>
          </a:prstGeom>
          <a:solidFill>
            <a:srgbClr val="2E7D74"/>
          </a:solidFill>
          <a:ln/>
        </p:spPr>
      </p:sp>
      <p:sp>
        <p:nvSpPr>
          <p:cNvPr id="16" name="Text 14"/>
          <p:cNvSpPr txBox="1"/>
          <p:nvPr/>
        </p:nvSpPr>
        <p:spPr>
          <a:xfrm>
            <a:off x="5248656" y="153619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3</a:t>
            </a:r>
            <a:endParaRPr lang="en-US" sz="1200" dirty="0">
              <a:latin typeface="Cambria" panose="02040503050406030204" pitchFamily="18" charset="0"/>
              <a:ea typeface="Cambria" panose="02040503050406030204" pitchFamily="18" charset="0"/>
            </a:endParaRPr>
          </a:p>
        </p:txBody>
      </p:sp>
      <p:sp>
        <p:nvSpPr>
          <p:cNvPr id="17" name="Text 15"/>
          <p:cNvSpPr txBox="1"/>
          <p:nvPr/>
        </p:nvSpPr>
        <p:spPr>
          <a:xfrm>
            <a:off x="5248656" y="1788160"/>
            <a:ext cx="1700784" cy="457200"/>
          </a:xfrm>
          <a:prstGeom prst="rect">
            <a:avLst/>
          </a:prstGeom>
          <a:noFill/>
          <a:ln/>
        </p:spPr>
        <p:txBody>
          <a:bodyPr wrap="square" lIns="0" tIns="0" rIns="0" bIns="0" rtlCol="0" anchor="ctr"/>
          <a:lstStyle/>
          <a:p>
            <a:pPr marL="0" indent="0">
              <a:buNone/>
            </a:pPr>
            <a:r>
              <a:rPr lang="en-US" sz="1400" b="1" dirty="0">
                <a:solidFill>
                  <a:srgbClr val="10333F"/>
                </a:solidFill>
                <a:latin typeface="Cambria" panose="02040503050406030204" pitchFamily="18" charset="0"/>
                <a:ea typeface="Cambria" panose="02040503050406030204" pitchFamily="18" charset="0"/>
                <a:cs typeface="Calibri" pitchFamily="34" charset="-120"/>
              </a:rPr>
              <a:t>Pin the premises</a:t>
            </a:r>
            <a:endParaRPr lang="en-US" sz="1400" dirty="0">
              <a:latin typeface="Cambria" panose="02040503050406030204" pitchFamily="18" charset="0"/>
              <a:ea typeface="Cambria" panose="02040503050406030204" pitchFamily="18" charset="0"/>
            </a:endParaRPr>
          </a:p>
        </p:txBody>
      </p:sp>
      <p:sp>
        <p:nvSpPr>
          <p:cNvPr id="18" name="Text 16"/>
          <p:cNvSpPr txBox="1"/>
          <p:nvPr/>
        </p:nvSpPr>
        <p:spPr>
          <a:xfrm>
            <a:off x="5248656" y="2296160"/>
            <a:ext cx="1700784" cy="960120"/>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Customer drags a pin to their own doorstep. Stored as a DIGIPIN - a 4m grid code, not a guessed geocode.</a:t>
            </a:r>
            <a:endParaRPr lang="en-US" sz="1200" dirty="0">
              <a:latin typeface="Cambria" panose="02040503050406030204" pitchFamily="18" charset="0"/>
              <a:ea typeface="Cambria" panose="02040503050406030204" pitchFamily="18" charset="0"/>
            </a:endParaRPr>
          </a:p>
        </p:txBody>
      </p:sp>
      <p:sp>
        <p:nvSpPr>
          <p:cNvPr id="19" name="Shape 17"/>
          <p:cNvSpPr/>
          <p:nvPr/>
        </p:nvSpPr>
        <p:spPr>
          <a:xfrm>
            <a:off x="7342632" y="1371600"/>
            <a:ext cx="2029968" cy="2057400"/>
          </a:xfrm>
          <a:prstGeom prst="roundRect">
            <a:avLst>
              <a:gd name="adj" fmla="val 3604"/>
            </a:avLst>
          </a:prstGeom>
          <a:solidFill>
            <a:srgbClr val="F7F9F9"/>
          </a:solidFill>
          <a:ln w="9525">
            <a:solidFill>
              <a:srgbClr val="D6DFE1"/>
            </a:solidFill>
            <a:prstDash val="solid"/>
          </a:ln>
        </p:spPr>
      </p:sp>
      <p:sp>
        <p:nvSpPr>
          <p:cNvPr id="20" name="Shape 18"/>
          <p:cNvSpPr/>
          <p:nvPr/>
        </p:nvSpPr>
        <p:spPr>
          <a:xfrm>
            <a:off x="7507224" y="1536192"/>
            <a:ext cx="292608" cy="292608"/>
          </a:xfrm>
          <a:prstGeom prst="ellipse">
            <a:avLst/>
          </a:prstGeom>
          <a:solidFill>
            <a:srgbClr val="C2571A"/>
          </a:solidFill>
          <a:ln/>
        </p:spPr>
      </p:sp>
      <p:sp>
        <p:nvSpPr>
          <p:cNvPr id="21" name="Text 19"/>
          <p:cNvSpPr txBox="1"/>
          <p:nvPr/>
        </p:nvSpPr>
        <p:spPr>
          <a:xfrm>
            <a:off x="7507224" y="153619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4</a:t>
            </a:r>
            <a:endParaRPr lang="en-US" sz="1200" dirty="0">
              <a:latin typeface="Cambria" panose="02040503050406030204" pitchFamily="18" charset="0"/>
              <a:ea typeface="Cambria" panose="02040503050406030204" pitchFamily="18" charset="0"/>
            </a:endParaRPr>
          </a:p>
        </p:txBody>
      </p:sp>
      <p:sp>
        <p:nvSpPr>
          <p:cNvPr id="22" name="Text 20"/>
          <p:cNvSpPr txBox="1"/>
          <p:nvPr/>
        </p:nvSpPr>
        <p:spPr>
          <a:xfrm>
            <a:off x="7507224" y="1788160"/>
            <a:ext cx="2029968" cy="457200"/>
          </a:xfrm>
          <a:prstGeom prst="rect">
            <a:avLst/>
          </a:prstGeom>
          <a:noFill/>
          <a:ln/>
        </p:spPr>
        <p:txBody>
          <a:bodyPr wrap="square" lIns="0" tIns="0" rIns="0" bIns="0" rtlCol="0" anchor="ctr"/>
          <a:lstStyle/>
          <a:p>
            <a:pPr marL="0" indent="0">
              <a:buNone/>
            </a:pPr>
            <a:r>
              <a:rPr lang="en-US" sz="1400" b="1" dirty="0">
                <a:solidFill>
                  <a:srgbClr val="10333F"/>
                </a:solidFill>
                <a:latin typeface="Cambria" panose="02040503050406030204" pitchFamily="18" charset="0"/>
                <a:ea typeface="Cambria" panose="02040503050406030204" pitchFamily="18" charset="0"/>
                <a:cs typeface="Calibri" pitchFamily="34" charset="-120"/>
              </a:rPr>
              <a:t>Guided video capture</a:t>
            </a:r>
            <a:endParaRPr lang="en-US" sz="1400" dirty="0">
              <a:latin typeface="Cambria" panose="02040503050406030204" pitchFamily="18" charset="0"/>
              <a:ea typeface="Cambria" panose="02040503050406030204" pitchFamily="18" charset="0"/>
            </a:endParaRPr>
          </a:p>
        </p:txBody>
      </p:sp>
      <p:sp>
        <p:nvSpPr>
          <p:cNvPr id="23" name="Text 21"/>
          <p:cNvSpPr txBox="1"/>
          <p:nvPr/>
        </p:nvSpPr>
        <p:spPr>
          <a:xfrm>
            <a:off x="7507224" y="2296160"/>
            <a:ext cx="1700784" cy="960120"/>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One audio-led pan. The frame set is chosen by premises type. Full-size photos on each hold-still beat.</a:t>
            </a:r>
            <a:endParaRPr lang="en-US" sz="1200" dirty="0">
              <a:latin typeface="Cambria" panose="02040503050406030204" pitchFamily="18" charset="0"/>
              <a:ea typeface="Cambria" panose="02040503050406030204" pitchFamily="18" charset="0"/>
            </a:endParaRPr>
          </a:p>
        </p:txBody>
      </p:sp>
      <p:sp>
        <p:nvSpPr>
          <p:cNvPr id="24" name="Shape 22"/>
          <p:cNvSpPr/>
          <p:nvPr/>
        </p:nvSpPr>
        <p:spPr>
          <a:xfrm>
            <a:off x="9601200" y="1371600"/>
            <a:ext cx="2029968" cy="2057400"/>
          </a:xfrm>
          <a:prstGeom prst="roundRect">
            <a:avLst>
              <a:gd name="adj" fmla="val 3604"/>
            </a:avLst>
          </a:prstGeom>
          <a:solidFill>
            <a:srgbClr val="F7F9F9"/>
          </a:solidFill>
          <a:ln w="9525">
            <a:solidFill>
              <a:srgbClr val="D6DFE1"/>
            </a:solidFill>
            <a:prstDash val="solid"/>
          </a:ln>
        </p:spPr>
      </p:sp>
      <p:sp>
        <p:nvSpPr>
          <p:cNvPr id="25" name="Shape 23"/>
          <p:cNvSpPr/>
          <p:nvPr/>
        </p:nvSpPr>
        <p:spPr>
          <a:xfrm>
            <a:off x="9765792" y="1536192"/>
            <a:ext cx="292608" cy="292608"/>
          </a:xfrm>
          <a:prstGeom prst="ellipse">
            <a:avLst/>
          </a:prstGeom>
          <a:solidFill>
            <a:srgbClr val="2E7D74"/>
          </a:solidFill>
          <a:ln/>
        </p:spPr>
      </p:sp>
      <p:sp>
        <p:nvSpPr>
          <p:cNvPr id="26" name="Text 24"/>
          <p:cNvSpPr txBox="1"/>
          <p:nvPr/>
        </p:nvSpPr>
        <p:spPr>
          <a:xfrm>
            <a:off x="9765792" y="153619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5</a:t>
            </a:r>
            <a:endParaRPr lang="en-US" sz="1200" dirty="0">
              <a:latin typeface="Cambria" panose="02040503050406030204" pitchFamily="18" charset="0"/>
              <a:ea typeface="Cambria" panose="02040503050406030204" pitchFamily="18" charset="0"/>
            </a:endParaRPr>
          </a:p>
        </p:txBody>
      </p:sp>
      <p:sp>
        <p:nvSpPr>
          <p:cNvPr id="27" name="Text 25"/>
          <p:cNvSpPr txBox="1"/>
          <p:nvPr/>
        </p:nvSpPr>
        <p:spPr>
          <a:xfrm>
            <a:off x="9765792" y="1788160"/>
            <a:ext cx="1700784" cy="457200"/>
          </a:xfrm>
          <a:prstGeom prst="rect">
            <a:avLst/>
          </a:prstGeom>
          <a:noFill/>
          <a:ln/>
        </p:spPr>
        <p:txBody>
          <a:bodyPr wrap="square" lIns="0" tIns="0" rIns="0" bIns="0" rtlCol="0" anchor="ctr"/>
          <a:lstStyle/>
          <a:p>
            <a:pPr marL="0" indent="0">
              <a:buNone/>
            </a:pPr>
            <a:r>
              <a:rPr lang="en-US" sz="1400" b="1" dirty="0">
                <a:solidFill>
                  <a:srgbClr val="10333F"/>
                </a:solidFill>
                <a:latin typeface="Cambria" panose="02040503050406030204" pitchFamily="18" charset="0"/>
                <a:ea typeface="Cambria" panose="02040503050406030204" pitchFamily="18" charset="0"/>
                <a:cs typeface="Calibri" pitchFamily="34" charset="-120"/>
              </a:rPr>
              <a:t>Machine decision</a:t>
            </a:r>
            <a:endParaRPr lang="en-US" sz="1400" dirty="0">
              <a:latin typeface="Cambria" panose="02040503050406030204" pitchFamily="18" charset="0"/>
              <a:ea typeface="Cambria" panose="02040503050406030204" pitchFamily="18" charset="0"/>
            </a:endParaRPr>
          </a:p>
        </p:txBody>
      </p:sp>
      <p:sp>
        <p:nvSpPr>
          <p:cNvPr id="28" name="Text 26"/>
          <p:cNvSpPr txBox="1"/>
          <p:nvPr/>
        </p:nvSpPr>
        <p:spPr>
          <a:xfrm>
            <a:off x="9765792" y="2296160"/>
            <a:ext cx="1700784" cy="960120"/>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Distance, freshness, device attestation, injection and face match. Outputs a score and reason codes, never a verdict.</a:t>
            </a:r>
            <a:endParaRPr lang="en-US" sz="1200" dirty="0">
              <a:latin typeface="Cambria" panose="02040503050406030204" pitchFamily="18" charset="0"/>
              <a:ea typeface="Cambria" panose="02040503050406030204" pitchFamily="18" charset="0"/>
            </a:endParaRPr>
          </a:p>
        </p:txBody>
      </p:sp>
      <p:sp>
        <p:nvSpPr>
          <p:cNvPr id="29" name="Shape 27"/>
          <p:cNvSpPr/>
          <p:nvPr/>
        </p:nvSpPr>
        <p:spPr>
          <a:xfrm>
            <a:off x="566928" y="3657600"/>
            <a:ext cx="5532120" cy="2276856"/>
          </a:xfrm>
          <a:prstGeom prst="roundRect">
            <a:avLst>
              <a:gd name="adj" fmla="val 3404"/>
            </a:avLst>
          </a:prstGeom>
          <a:solidFill>
            <a:srgbClr val="FFFFFF"/>
          </a:solidFill>
          <a:ln w="9525">
            <a:solidFill>
              <a:srgbClr val="D6DFE1"/>
            </a:solidFill>
            <a:prstDash val="solid"/>
          </a:ln>
        </p:spPr>
      </p:sp>
      <p:sp>
        <p:nvSpPr>
          <p:cNvPr id="31" name="Text 29"/>
          <p:cNvSpPr txBox="1"/>
          <p:nvPr/>
        </p:nvSpPr>
        <p:spPr>
          <a:xfrm>
            <a:off x="1042416" y="3803904"/>
            <a:ext cx="4846320" cy="292608"/>
          </a:xfrm>
          <a:prstGeom prst="rect">
            <a:avLst/>
          </a:prstGeom>
          <a:noFill/>
          <a:ln/>
        </p:spPr>
        <p:txBody>
          <a:bodyPr wrap="square" lIns="0" tIns="0" rIns="0" bIns="0" rtlCol="0" anchor="ctr"/>
          <a:lstStyle/>
          <a:p>
            <a:pPr marL="0" indent="0">
              <a:buNone/>
            </a:pPr>
            <a:r>
              <a:rPr lang="en-US" sz="1400" b="1" dirty="0">
                <a:solidFill>
                  <a:srgbClr val="2E7D74"/>
                </a:solidFill>
                <a:latin typeface="Cambria" panose="02040503050406030204" pitchFamily="18" charset="0"/>
                <a:ea typeface="Cambria" panose="02040503050406030204" pitchFamily="18" charset="0"/>
                <a:cs typeface="Calibri" pitchFamily="34" charset="-120"/>
              </a:rPr>
              <a:t>Residential</a:t>
            </a:r>
            <a:endParaRPr lang="en-US" sz="1400" dirty="0">
              <a:latin typeface="Cambria" panose="02040503050406030204" pitchFamily="18" charset="0"/>
              <a:ea typeface="Cambria" panose="02040503050406030204" pitchFamily="18" charset="0"/>
            </a:endParaRPr>
          </a:p>
        </p:txBody>
      </p:sp>
      <p:sp>
        <p:nvSpPr>
          <p:cNvPr id="32" name="Text 30"/>
          <p:cNvSpPr txBox="1"/>
          <p:nvPr/>
        </p:nvSpPr>
        <p:spPr>
          <a:xfrm>
            <a:off x="841248" y="4106672"/>
            <a:ext cx="5029200" cy="1572768"/>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Frame set follows the address: a tower needs flat number, tower board and gate; a village house needs its frontage and landmark</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Exterior only. No interiors, no household members</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Aadhaar is corroboration, never truth. Assurance comes from matching address text to text, because Indian geocoding fails in villages and dense colonies alike</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Rent papers and landlord bills evidence tenure, not presence scored, never gated, and we never contact the landlord</a:t>
            </a:r>
            <a:endParaRPr lang="en-US" sz="1200" dirty="0">
              <a:latin typeface="Cambria" panose="02040503050406030204" pitchFamily="18" charset="0"/>
              <a:ea typeface="Cambria" panose="02040503050406030204" pitchFamily="18" charset="0"/>
            </a:endParaRPr>
          </a:p>
        </p:txBody>
      </p:sp>
      <p:sp>
        <p:nvSpPr>
          <p:cNvPr id="33" name="Shape 31"/>
          <p:cNvSpPr/>
          <p:nvPr/>
        </p:nvSpPr>
        <p:spPr>
          <a:xfrm>
            <a:off x="6281928" y="3657600"/>
            <a:ext cx="5532120" cy="2276856"/>
          </a:xfrm>
          <a:prstGeom prst="roundRect">
            <a:avLst>
              <a:gd name="adj" fmla="val 3404"/>
            </a:avLst>
          </a:prstGeom>
          <a:solidFill>
            <a:srgbClr val="FFFFFF"/>
          </a:solidFill>
          <a:ln w="9525">
            <a:solidFill>
              <a:srgbClr val="D6DFE1"/>
            </a:solidFill>
            <a:prstDash val="solid"/>
          </a:ln>
        </p:spPr>
      </p:sp>
      <p:sp>
        <p:nvSpPr>
          <p:cNvPr id="35" name="Text 33"/>
          <p:cNvSpPr txBox="1"/>
          <p:nvPr/>
        </p:nvSpPr>
        <p:spPr>
          <a:xfrm>
            <a:off x="6757416" y="3803904"/>
            <a:ext cx="4846320" cy="292608"/>
          </a:xfrm>
          <a:prstGeom prst="rect">
            <a:avLst/>
          </a:prstGeom>
          <a:noFill/>
          <a:ln/>
        </p:spPr>
        <p:txBody>
          <a:bodyPr wrap="square" lIns="0" tIns="0" rIns="0" bIns="0" rtlCol="0" anchor="ctr"/>
          <a:lstStyle/>
          <a:p>
            <a:pPr marL="0" indent="0">
              <a:buNone/>
            </a:pPr>
            <a:r>
              <a:rPr lang="en-US" sz="1400" b="1" dirty="0">
                <a:solidFill>
                  <a:srgbClr val="C2571A"/>
                </a:solidFill>
                <a:latin typeface="Cambria" panose="02040503050406030204" pitchFamily="18" charset="0"/>
                <a:ea typeface="Cambria" panose="02040503050406030204" pitchFamily="18" charset="0"/>
                <a:cs typeface="Calibri" pitchFamily="34" charset="-120"/>
              </a:rPr>
              <a:t>Business or work premises</a:t>
            </a:r>
            <a:endParaRPr lang="en-US" sz="1400" dirty="0">
              <a:latin typeface="Cambria" panose="02040503050406030204" pitchFamily="18" charset="0"/>
              <a:ea typeface="Cambria" panose="02040503050406030204" pitchFamily="18" charset="0"/>
            </a:endParaRPr>
          </a:p>
        </p:txBody>
      </p:sp>
      <p:sp>
        <p:nvSpPr>
          <p:cNvPr id="36" name="Text 34"/>
          <p:cNvSpPr txBox="1"/>
          <p:nvPr/>
        </p:nvSpPr>
        <p:spPr>
          <a:xfrm>
            <a:off x="6556248" y="4137152"/>
            <a:ext cx="5029200" cy="17881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Signboard and shopfront; registered address may legitimately differ from operating address</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Home and shop sequenced as separate sessions, each completing independently</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Home equals work is auto-detected and asked once; no fixed premises exits to an alternative work anchor</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Verifying machinery or stock is a separate purpose with its own consent  deliberately out of scope for v1</a:t>
            </a:r>
            <a:endParaRPr lang="en-US" sz="1200" dirty="0">
              <a:latin typeface="Cambria" panose="02040503050406030204" pitchFamily="18" charset="0"/>
              <a:ea typeface="Cambria" panose="02040503050406030204" pitchFamily="18" charset="0"/>
            </a:endParaRPr>
          </a:p>
        </p:txBody>
      </p:sp>
      <p:sp>
        <p:nvSpPr>
          <p:cNvPr id="37" name="Text 35"/>
          <p:cNvSpPr txBox="1"/>
          <p:nvPr/>
        </p:nvSpPr>
        <p:spPr>
          <a:xfrm>
            <a:off x="566928" y="6099048"/>
            <a:ext cx="11057839" cy="502920"/>
          </a:xfrm>
          <a:prstGeom prst="rect">
            <a:avLst/>
          </a:prstGeom>
          <a:noFill/>
          <a:ln/>
        </p:spPr>
        <p:txBody>
          <a:bodyPr wrap="square" lIns="0" tIns="0" rIns="0" bIns="0" rtlCol="0" anchor="t"/>
          <a:lstStyle/>
          <a:p>
            <a:pPr marL="0" indent="0">
              <a:buNone/>
            </a:pPr>
            <a:r>
              <a:rPr lang="en-US" sz="1600" i="1" dirty="0">
                <a:solidFill>
                  <a:srgbClr val="C2571A"/>
                </a:solidFill>
                <a:latin typeface="Cambria" panose="02040503050406030204" pitchFamily="18" charset="0"/>
                <a:ea typeface="Cambria" panose="02040503050406030204" pitchFamily="18" charset="0"/>
                <a:cs typeface="Calibri" pitchFamily="34" charset="-120"/>
              </a:rPr>
              <a:t>A stated choice, not a given: We sanction first and gate disbursal on verification, because a customer told "approved, complete this to receive the money" completes far more often than one doing an unrewarded chore after the money has landed.</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Designed for failure: no branch ends in a dead end</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Verification failure never rejects a customer. It moves them to a different rail.</a:t>
            </a:r>
            <a:endParaRPr lang="en-US" sz="1400" dirty="0">
              <a:latin typeface="Cambria" panose="02040503050406030204" pitchFamily="18" charset="0"/>
              <a:ea typeface="Cambria" panose="02040503050406030204" pitchFamily="18" charset="0"/>
            </a:endParaRPr>
          </a:p>
        </p:txBody>
      </p:sp>
      <p:sp>
        <p:nvSpPr>
          <p:cNvPr id="4" name="Shape 2"/>
          <p:cNvSpPr/>
          <p:nvPr/>
        </p:nvSpPr>
        <p:spPr>
          <a:xfrm>
            <a:off x="566928" y="1371600"/>
            <a:ext cx="3749040" cy="4988560"/>
          </a:xfrm>
          <a:prstGeom prst="roundRect">
            <a:avLst>
              <a:gd name="adj" fmla="val 1951"/>
            </a:avLst>
          </a:prstGeom>
          <a:solidFill>
            <a:srgbClr val="10333F"/>
          </a:solidFill>
          <a:ln/>
        </p:spPr>
      </p:sp>
      <p:sp>
        <p:nvSpPr>
          <p:cNvPr id="5" name="Text 3"/>
          <p:cNvSpPr txBox="1"/>
          <p:nvPr/>
        </p:nvSpPr>
        <p:spPr>
          <a:xfrm>
            <a:off x="841248" y="1511808"/>
            <a:ext cx="3200400" cy="310896"/>
          </a:xfrm>
          <a:prstGeom prst="rect">
            <a:avLst/>
          </a:prstGeom>
          <a:noFill/>
          <a:ln/>
        </p:spPr>
        <p:txBody>
          <a:bodyPr wrap="square" lIns="0" tIns="0" rIns="0" bIns="0" rtlCol="0" anchor="ctr"/>
          <a:lstStyle/>
          <a:p>
            <a:pPr marL="0" indent="0">
              <a:buNone/>
            </a:pPr>
            <a:r>
              <a:rPr lang="en-US" sz="2400" b="1" dirty="0">
                <a:solidFill>
                  <a:srgbClr val="FFFFFF"/>
                </a:solidFill>
                <a:latin typeface="Cambria" panose="02040503050406030204" pitchFamily="18" charset="0"/>
                <a:ea typeface="Cambria" panose="02040503050406030204" pitchFamily="18" charset="0"/>
                <a:cs typeface="Cambria" pitchFamily="34" charset="-120"/>
              </a:rPr>
              <a:t>Three rails</a:t>
            </a:r>
            <a:endParaRPr lang="en-US" sz="2400" dirty="0">
              <a:latin typeface="Cambria" panose="02040503050406030204" pitchFamily="18" charset="0"/>
              <a:ea typeface="Cambria" panose="02040503050406030204" pitchFamily="18" charset="0"/>
            </a:endParaRPr>
          </a:p>
        </p:txBody>
      </p:sp>
      <p:sp>
        <p:nvSpPr>
          <p:cNvPr id="6" name="Shape 4"/>
          <p:cNvSpPr/>
          <p:nvPr/>
        </p:nvSpPr>
        <p:spPr>
          <a:xfrm>
            <a:off x="841248" y="2017776"/>
            <a:ext cx="274320" cy="274320"/>
          </a:xfrm>
          <a:prstGeom prst="ellipse">
            <a:avLst/>
          </a:prstGeom>
          <a:solidFill>
            <a:srgbClr val="C2571A"/>
          </a:solidFill>
          <a:ln/>
        </p:spPr>
      </p:sp>
      <p:sp>
        <p:nvSpPr>
          <p:cNvPr id="7" name="Text 5"/>
          <p:cNvSpPr txBox="1"/>
          <p:nvPr/>
        </p:nvSpPr>
        <p:spPr>
          <a:xfrm>
            <a:off x="841248" y="2024191"/>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1</a:t>
            </a:r>
            <a:endParaRPr lang="en-US" sz="1200" dirty="0">
              <a:latin typeface="Cambria" panose="02040503050406030204" pitchFamily="18" charset="0"/>
              <a:ea typeface="Cambria" panose="02040503050406030204" pitchFamily="18" charset="0"/>
            </a:endParaRPr>
          </a:p>
        </p:txBody>
      </p:sp>
      <p:sp>
        <p:nvSpPr>
          <p:cNvPr id="8" name="Text 6"/>
          <p:cNvSpPr txBox="1"/>
          <p:nvPr/>
        </p:nvSpPr>
        <p:spPr>
          <a:xfrm>
            <a:off x="1225296" y="2024191"/>
            <a:ext cx="2834640" cy="274320"/>
          </a:xfrm>
          <a:prstGeom prst="rect">
            <a:avLst/>
          </a:prstGeom>
          <a:noFill/>
          <a:ln/>
        </p:spPr>
        <p:txBody>
          <a:bodyPr wrap="square" lIns="0" tIns="0" rIns="0" bIns="0" rtlCol="0" anchor="ctr"/>
          <a:lstStyle/>
          <a:p>
            <a:pPr marL="0" indent="0">
              <a:buNone/>
            </a:pPr>
            <a:r>
              <a:rPr lang="en-US" b="1" dirty="0">
                <a:solidFill>
                  <a:srgbClr val="FFFFFF"/>
                </a:solidFill>
                <a:latin typeface="Cambria" panose="02040503050406030204" pitchFamily="18" charset="0"/>
                <a:ea typeface="Cambria" panose="02040503050406030204" pitchFamily="18" charset="0"/>
                <a:cs typeface="Calibri" pitchFamily="34" charset="-120"/>
              </a:rPr>
              <a:t>Self-serve capture</a:t>
            </a:r>
            <a:endParaRPr lang="en-US" dirty="0">
              <a:latin typeface="Cambria" panose="02040503050406030204" pitchFamily="18" charset="0"/>
              <a:ea typeface="Cambria" panose="02040503050406030204" pitchFamily="18" charset="0"/>
            </a:endParaRPr>
          </a:p>
        </p:txBody>
      </p:sp>
      <p:sp>
        <p:nvSpPr>
          <p:cNvPr id="9" name="Text 7"/>
          <p:cNvSpPr txBox="1"/>
          <p:nvPr/>
        </p:nvSpPr>
        <p:spPr>
          <a:xfrm>
            <a:off x="1225296" y="2241615"/>
            <a:ext cx="2834640" cy="640080"/>
          </a:xfrm>
          <a:prstGeom prst="rect">
            <a:avLst/>
          </a:prstGeom>
          <a:noFill/>
          <a:ln/>
        </p:spPr>
        <p:txBody>
          <a:bodyPr wrap="square" lIns="0" tIns="0" rIns="0" bIns="0" rtlCol="0" anchor="ctr"/>
          <a:lstStyle/>
          <a:p>
            <a:pPr marL="0" indent="0">
              <a:buNone/>
            </a:pPr>
            <a:r>
              <a:rPr lang="en-US" sz="1400" dirty="0">
                <a:solidFill>
                  <a:srgbClr val="9FBFC4"/>
                </a:solidFill>
                <a:latin typeface="Cambria" panose="02040503050406030204" pitchFamily="18" charset="0"/>
                <a:ea typeface="Cambria" panose="02040503050406030204" pitchFamily="18" charset="0"/>
                <a:cs typeface="Calibri" pitchFamily="34" charset="-120"/>
              </a:rPr>
              <a:t>Target: 85-90%</a:t>
            </a:r>
            <a:endParaRPr lang="en-US" sz="1400" dirty="0">
              <a:latin typeface="Cambria" panose="02040503050406030204" pitchFamily="18" charset="0"/>
              <a:ea typeface="Cambria" panose="02040503050406030204" pitchFamily="18" charset="0"/>
            </a:endParaRPr>
          </a:p>
        </p:txBody>
      </p:sp>
      <p:sp>
        <p:nvSpPr>
          <p:cNvPr id="10" name="Shape 8"/>
          <p:cNvSpPr/>
          <p:nvPr/>
        </p:nvSpPr>
        <p:spPr>
          <a:xfrm>
            <a:off x="841248" y="3107182"/>
            <a:ext cx="274320" cy="274320"/>
          </a:xfrm>
          <a:prstGeom prst="ellipse">
            <a:avLst/>
          </a:prstGeom>
          <a:solidFill>
            <a:srgbClr val="C2571A"/>
          </a:solidFill>
          <a:ln/>
        </p:spPr>
      </p:sp>
      <p:sp>
        <p:nvSpPr>
          <p:cNvPr id="11" name="Text 9"/>
          <p:cNvSpPr txBox="1"/>
          <p:nvPr/>
        </p:nvSpPr>
        <p:spPr>
          <a:xfrm>
            <a:off x="841248" y="30932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2</a:t>
            </a:r>
            <a:endParaRPr lang="en-US" sz="1200" dirty="0">
              <a:latin typeface="Cambria" panose="02040503050406030204" pitchFamily="18" charset="0"/>
              <a:ea typeface="Cambria" panose="02040503050406030204" pitchFamily="18" charset="0"/>
            </a:endParaRPr>
          </a:p>
        </p:txBody>
      </p:sp>
      <p:sp>
        <p:nvSpPr>
          <p:cNvPr id="12" name="Text 10"/>
          <p:cNvSpPr txBox="1"/>
          <p:nvPr/>
        </p:nvSpPr>
        <p:spPr>
          <a:xfrm>
            <a:off x="1225296" y="3093212"/>
            <a:ext cx="2834640" cy="274320"/>
          </a:xfrm>
          <a:prstGeom prst="rect">
            <a:avLst/>
          </a:prstGeom>
          <a:noFill/>
          <a:ln/>
        </p:spPr>
        <p:txBody>
          <a:bodyPr wrap="square" lIns="0" tIns="0" rIns="0" bIns="0" rtlCol="0" anchor="ctr"/>
          <a:lstStyle/>
          <a:p>
            <a:pPr marL="0" indent="0">
              <a:buNone/>
            </a:pPr>
            <a:r>
              <a:rPr lang="en-US" b="1" dirty="0">
                <a:solidFill>
                  <a:srgbClr val="FFFFFF"/>
                </a:solidFill>
                <a:latin typeface="Cambria" panose="02040503050406030204" pitchFamily="18" charset="0"/>
                <a:ea typeface="Cambria" panose="02040503050406030204" pitchFamily="18" charset="0"/>
                <a:cs typeface="Calibri" pitchFamily="34" charset="-120"/>
              </a:rPr>
              <a:t>Assisted capture</a:t>
            </a:r>
            <a:endParaRPr lang="en-US" dirty="0">
              <a:latin typeface="Cambria" panose="02040503050406030204" pitchFamily="18" charset="0"/>
              <a:ea typeface="Cambria" panose="02040503050406030204" pitchFamily="18" charset="0"/>
            </a:endParaRPr>
          </a:p>
        </p:txBody>
      </p:sp>
      <p:sp>
        <p:nvSpPr>
          <p:cNvPr id="13" name="Text 11"/>
          <p:cNvSpPr txBox="1"/>
          <p:nvPr/>
        </p:nvSpPr>
        <p:spPr>
          <a:xfrm>
            <a:off x="1225296" y="3310636"/>
            <a:ext cx="2834640" cy="640080"/>
          </a:xfrm>
          <a:prstGeom prst="rect">
            <a:avLst/>
          </a:prstGeom>
          <a:noFill/>
          <a:ln/>
        </p:spPr>
        <p:txBody>
          <a:bodyPr wrap="square" lIns="0" tIns="0" rIns="0" bIns="0" rtlCol="0" anchor="ctr"/>
          <a:lstStyle/>
          <a:p>
            <a:pPr marL="0" indent="0">
              <a:buNone/>
            </a:pPr>
            <a:r>
              <a:rPr lang="en-US" sz="1400" dirty="0">
                <a:solidFill>
                  <a:srgbClr val="9FBFC4"/>
                </a:solidFill>
                <a:latin typeface="Cambria" panose="02040503050406030204" pitchFamily="18" charset="0"/>
                <a:ea typeface="Cambria" panose="02040503050406030204" pitchFamily="18" charset="0"/>
                <a:cs typeface="Calibri" pitchFamily="34" charset="-120"/>
              </a:rPr>
              <a:t>Human guides over audio. Same machine adjudication.</a:t>
            </a:r>
            <a:endParaRPr lang="en-US" sz="1400" dirty="0">
              <a:latin typeface="Cambria" panose="02040503050406030204" pitchFamily="18" charset="0"/>
              <a:ea typeface="Cambria" panose="02040503050406030204" pitchFamily="18" charset="0"/>
            </a:endParaRPr>
          </a:p>
        </p:txBody>
      </p:sp>
      <p:sp>
        <p:nvSpPr>
          <p:cNvPr id="14" name="Shape 12"/>
          <p:cNvSpPr/>
          <p:nvPr/>
        </p:nvSpPr>
        <p:spPr>
          <a:xfrm>
            <a:off x="841248" y="4281678"/>
            <a:ext cx="274320" cy="274320"/>
          </a:xfrm>
          <a:prstGeom prst="ellipse">
            <a:avLst/>
          </a:prstGeom>
          <a:solidFill>
            <a:srgbClr val="C2571A"/>
          </a:solidFill>
          <a:ln/>
        </p:spPr>
      </p:sp>
      <p:sp>
        <p:nvSpPr>
          <p:cNvPr id="15" name="Text 13"/>
          <p:cNvSpPr txBox="1"/>
          <p:nvPr/>
        </p:nvSpPr>
        <p:spPr>
          <a:xfrm>
            <a:off x="841248" y="428802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anose="02040503050406030204" pitchFamily="18" charset="0"/>
                <a:ea typeface="Cambria" panose="02040503050406030204" pitchFamily="18" charset="0"/>
                <a:cs typeface="Calibri" pitchFamily="34" charset="-120"/>
              </a:rPr>
              <a:t>3</a:t>
            </a:r>
            <a:endParaRPr lang="en-US" sz="1200" dirty="0">
              <a:latin typeface="Cambria" panose="02040503050406030204" pitchFamily="18" charset="0"/>
              <a:ea typeface="Cambria" panose="02040503050406030204" pitchFamily="18" charset="0"/>
            </a:endParaRPr>
          </a:p>
        </p:txBody>
      </p:sp>
      <p:sp>
        <p:nvSpPr>
          <p:cNvPr id="16" name="Text 14"/>
          <p:cNvSpPr txBox="1"/>
          <p:nvPr/>
        </p:nvSpPr>
        <p:spPr>
          <a:xfrm>
            <a:off x="1225296" y="4288028"/>
            <a:ext cx="2834640" cy="274320"/>
          </a:xfrm>
          <a:prstGeom prst="rect">
            <a:avLst/>
          </a:prstGeom>
          <a:noFill/>
          <a:ln/>
        </p:spPr>
        <p:txBody>
          <a:bodyPr wrap="square" lIns="0" tIns="0" rIns="0" bIns="0" rtlCol="0" anchor="ctr"/>
          <a:lstStyle/>
          <a:p>
            <a:pPr marL="0" indent="0">
              <a:buNone/>
            </a:pPr>
            <a:r>
              <a:rPr lang="en-US" b="1" dirty="0">
                <a:solidFill>
                  <a:srgbClr val="FFFFFF"/>
                </a:solidFill>
                <a:latin typeface="Cambria" panose="02040503050406030204" pitchFamily="18" charset="0"/>
                <a:ea typeface="Cambria" panose="02040503050406030204" pitchFamily="18" charset="0"/>
                <a:cs typeface="Calibri" pitchFamily="34" charset="-120"/>
              </a:rPr>
              <a:t>Booked field visit</a:t>
            </a:r>
            <a:endParaRPr lang="en-US" dirty="0">
              <a:latin typeface="Cambria" panose="02040503050406030204" pitchFamily="18" charset="0"/>
              <a:ea typeface="Cambria" panose="02040503050406030204" pitchFamily="18" charset="0"/>
            </a:endParaRPr>
          </a:p>
        </p:txBody>
      </p:sp>
      <p:sp>
        <p:nvSpPr>
          <p:cNvPr id="17" name="Text 15"/>
          <p:cNvSpPr txBox="1"/>
          <p:nvPr/>
        </p:nvSpPr>
        <p:spPr>
          <a:xfrm>
            <a:off x="1225296" y="4505452"/>
            <a:ext cx="2834640" cy="640080"/>
          </a:xfrm>
          <a:prstGeom prst="rect">
            <a:avLst/>
          </a:prstGeom>
          <a:noFill/>
          <a:ln/>
        </p:spPr>
        <p:txBody>
          <a:bodyPr wrap="square" lIns="0" tIns="0" rIns="0" bIns="0" rtlCol="0" anchor="ctr"/>
          <a:lstStyle/>
          <a:p>
            <a:pPr marL="0" indent="0">
              <a:buNone/>
            </a:pPr>
            <a:r>
              <a:rPr lang="en-US" sz="1400" dirty="0">
                <a:solidFill>
                  <a:srgbClr val="9FBFC4"/>
                </a:solidFill>
                <a:latin typeface="Cambria" panose="02040503050406030204" pitchFamily="18" charset="0"/>
                <a:ea typeface="Cambria" panose="02040503050406030204" pitchFamily="18" charset="0"/>
                <a:cs typeface="Calibri" pitchFamily="34" charset="-120"/>
              </a:rPr>
              <a:t>The residual 2-5%. An SLA'd surface, not a black hole.</a:t>
            </a:r>
            <a:endParaRPr lang="en-US" sz="1400" dirty="0">
              <a:latin typeface="Cambria" panose="02040503050406030204" pitchFamily="18" charset="0"/>
              <a:ea typeface="Cambria" panose="02040503050406030204" pitchFamily="18" charset="0"/>
            </a:endParaRPr>
          </a:p>
        </p:txBody>
      </p:sp>
      <p:sp>
        <p:nvSpPr>
          <p:cNvPr id="18" name="Text 16"/>
          <p:cNvSpPr txBox="1"/>
          <p:nvPr/>
        </p:nvSpPr>
        <p:spPr>
          <a:xfrm>
            <a:off x="841248" y="5513832"/>
            <a:ext cx="3200400" cy="694944"/>
          </a:xfrm>
          <a:prstGeom prst="rect">
            <a:avLst/>
          </a:prstGeom>
          <a:noFill/>
          <a:ln/>
        </p:spPr>
        <p:txBody>
          <a:bodyPr wrap="square" lIns="0" tIns="0" rIns="0" bIns="0" rtlCol="0" anchor="ctr"/>
          <a:lstStyle/>
          <a:p>
            <a:pPr marL="0" indent="0">
              <a:buNone/>
            </a:pPr>
            <a:r>
              <a:rPr lang="en-US" sz="1400" i="1" dirty="0">
                <a:solidFill>
                  <a:srgbClr val="C9DDE0"/>
                </a:solidFill>
                <a:latin typeface="Cambria" panose="02040503050406030204" pitchFamily="18" charset="0"/>
                <a:ea typeface="Cambria" panose="02040503050406030204" pitchFamily="18" charset="0"/>
                <a:cs typeface="Calibri" pitchFamily="34" charset="-120"/>
              </a:rPr>
              <a:t>Humans never adjudicate a submission. Cases the machine cannot settle are re-collected on another rail.</a:t>
            </a:r>
            <a:endParaRPr lang="en-US" sz="1400" dirty="0">
              <a:latin typeface="Cambria" panose="02040503050406030204" pitchFamily="18" charset="0"/>
              <a:ea typeface="Cambria" panose="02040503050406030204" pitchFamily="18" charset="0"/>
            </a:endParaRPr>
          </a:p>
        </p:txBody>
      </p:sp>
      <p:sp>
        <p:nvSpPr>
          <p:cNvPr id="19" name="Shape 17"/>
          <p:cNvSpPr/>
          <p:nvPr/>
        </p:nvSpPr>
        <p:spPr>
          <a:xfrm>
            <a:off x="4498848" y="1371599"/>
            <a:ext cx="7123176" cy="926912"/>
          </a:xfrm>
          <a:prstGeom prst="roundRect">
            <a:avLst>
              <a:gd name="adj" fmla="val 9756"/>
            </a:avLst>
          </a:prstGeom>
          <a:solidFill>
            <a:srgbClr val="FBEFE6"/>
          </a:solidFill>
          <a:ln/>
        </p:spPr>
      </p:sp>
      <p:sp>
        <p:nvSpPr>
          <p:cNvPr id="20" name="Text 18"/>
          <p:cNvSpPr txBox="1"/>
          <p:nvPr/>
        </p:nvSpPr>
        <p:spPr>
          <a:xfrm>
            <a:off x="4754880" y="1450848"/>
            <a:ext cx="6583680" cy="256032"/>
          </a:xfrm>
          <a:prstGeom prst="rect">
            <a:avLst/>
          </a:prstGeom>
          <a:noFill/>
          <a:ln/>
        </p:spPr>
        <p:txBody>
          <a:bodyPr wrap="square" lIns="0" tIns="0" rIns="0" bIns="0" rtlCol="0" anchor="ctr"/>
          <a:lstStyle/>
          <a:p>
            <a:pPr marL="0" indent="0">
              <a:buNone/>
            </a:pPr>
            <a:r>
              <a:rPr lang="en-US" sz="1600" b="1" dirty="0">
                <a:solidFill>
                  <a:srgbClr val="C2571A"/>
                </a:solidFill>
                <a:latin typeface="Cambria" panose="02040503050406030204" pitchFamily="18" charset="0"/>
                <a:ea typeface="Cambria" panose="02040503050406030204" pitchFamily="18" charset="0"/>
                <a:cs typeface="Calibri" pitchFamily="34" charset="-120"/>
              </a:rPr>
              <a:t>Verbose on quality failures. Deliberately generic on integrity failures.</a:t>
            </a:r>
            <a:endParaRPr lang="en-US" sz="1600" dirty="0">
              <a:latin typeface="Cambria" panose="02040503050406030204" pitchFamily="18" charset="0"/>
              <a:ea typeface="Cambria" panose="02040503050406030204" pitchFamily="18" charset="0"/>
            </a:endParaRPr>
          </a:p>
        </p:txBody>
      </p:sp>
      <p:sp>
        <p:nvSpPr>
          <p:cNvPr id="21" name="Text 19"/>
          <p:cNvSpPr txBox="1"/>
          <p:nvPr/>
        </p:nvSpPr>
        <p:spPr>
          <a:xfrm>
            <a:off x="4754880" y="1857248"/>
            <a:ext cx="6583680" cy="274320"/>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Telling a genuine customer their photo is dark helps them. Telling a fraudster their location looked simulated is free tuition.</a:t>
            </a:r>
            <a:endParaRPr lang="en-US" sz="1400" dirty="0">
              <a:latin typeface="Cambria" panose="02040503050406030204" pitchFamily="18" charset="0"/>
              <a:ea typeface="Cambria" panose="02040503050406030204" pitchFamily="18" charset="0"/>
            </a:endParaRPr>
          </a:p>
        </p:txBody>
      </p:sp>
      <p:sp>
        <p:nvSpPr>
          <p:cNvPr id="22" name="Shape 20"/>
          <p:cNvSpPr/>
          <p:nvPr/>
        </p:nvSpPr>
        <p:spPr>
          <a:xfrm>
            <a:off x="4498848" y="2708550"/>
            <a:ext cx="7123176" cy="329184"/>
          </a:xfrm>
          <a:prstGeom prst="rect">
            <a:avLst/>
          </a:prstGeom>
          <a:solidFill>
            <a:srgbClr val="EDF1F1"/>
          </a:solidFill>
          <a:ln/>
        </p:spPr>
      </p:sp>
      <p:sp>
        <p:nvSpPr>
          <p:cNvPr id="23" name="Text 21"/>
          <p:cNvSpPr txBox="1"/>
          <p:nvPr/>
        </p:nvSpPr>
        <p:spPr>
          <a:xfrm>
            <a:off x="4681728" y="2708550"/>
            <a:ext cx="3566160" cy="329184"/>
          </a:xfrm>
          <a:prstGeom prst="rect">
            <a:avLst/>
          </a:prstGeom>
          <a:noFill/>
          <a:ln/>
        </p:spPr>
        <p:txBody>
          <a:bodyPr wrap="square" lIns="0" tIns="0" rIns="0" bIns="0" rtlCol="0" anchor="ctr"/>
          <a:lstStyle/>
          <a:p>
            <a:pPr marL="0" indent="0">
              <a:buNone/>
            </a:pPr>
            <a:r>
              <a:rPr lang="en-US" sz="1600" b="1" dirty="0">
                <a:solidFill>
                  <a:srgbClr val="5A6B70"/>
                </a:solidFill>
                <a:latin typeface="Cambria" panose="02040503050406030204" pitchFamily="18" charset="0"/>
                <a:ea typeface="Cambria" panose="02040503050406030204" pitchFamily="18" charset="0"/>
                <a:cs typeface="Calibri" pitchFamily="34" charset="-120"/>
              </a:rPr>
              <a:t>Failure</a:t>
            </a:r>
            <a:endParaRPr lang="en-US" sz="1600" dirty="0">
              <a:latin typeface="Cambria" panose="02040503050406030204" pitchFamily="18" charset="0"/>
              <a:ea typeface="Cambria" panose="02040503050406030204" pitchFamily="18" charset="0"/>
            </a:endParaRPr>
          </a:p>
        </p:txBody>
      </p:sp>
      <p:sp>
        <p:nvSpPr>
          <p:cNvPr id="24" name="Text 22"/>
          <p:cNvSpPr txBox="1"/>
          <p:nvPr/>
        </p:nvSpPr>
        <p:spPr>
          <a:xfrm>
            <a:off x="6647688" y="2708550"/>
            <a:ext cx="3566160" cy="329184"/>
          </a:xfrm>
          <a:prstGeom prst="rect">
            <a:avLst/>
          </a:prstGeom>
          <a:noFill/>
          <a:ln/>
        </p:spPr>
        <p:txBody>
          <a:bodyPr wrap="square" lIns="0" tIns="0" rIns="0" bIns="0" rtlCol="0" anchor="ctr"/>
          <a:lstStyle/>
          <a:p>
            <a:pPr marL="0" indent="0">
              <a:buNone/>
            </a:pPr>
            <a:r>
              <a:rPr lang="en-US" sz="1600" b="1" dirty="0">
                <a:solidFill>
                  <a:srgbClr val="5A6B70"/>
                </a:solidFill>
                <a:latin typeface="Cambria" panose="02040503050406030204" pitchFamily="18" charset="0"/>
                <a:ea typeface="Cambria" panose="02040503050406030204" pitchFamily="18" charset="0"/>
                <a:cs typeface="Calibri" pitchFamily="34" charset="-120"/>
              </a:rPr>
              <a:t>Class</a:t>
            </a:r>
            <a:endParaRPr lang="en-US" sz="1600" dirty="0">
              <a:latin typeface="Cambria" panose="02040503050406030204" pitchFamily="18" charset="0"/>
              <a:ea typeface="Cambria" panose="02040503050406030204" pitchFamily="18" charset="0"/>
            </a:endParaRPr>
          </a:p>
        </p:txBody>
      </p:sp>
      <p:sp>
        <p:nvSpPr>
          <p:cNvPr id="25" name="Text 23"/>
          <p:cNvSpPr txBox="1"/>
          <p:nvPr/>
        </p:nvSpPr>
        <p:spPr>
          <a:xfrm>
            <a:off x="7699248" y="2708550"/>
            <a:ext cx="3566160" cy="329184"/>
          </a:xfrm>
          <a:prstGeom prst="rect">
            <a:avLst/>
          </a:prstGeom>
          <a:noFill/>
          <a:ln/>
        </p:spPr>
        <p:txBody>
          <a:bodyPr wrap="square" lIns="0" tIns="0" rIns="0" bIns="0" rtlCol="0" anchor="ctr"/>
          <a:lstStyle/>
          <a:p>
            <a:pPr marL="0" indent="0">
              <a:buNone/>
            </a:pPr>
            <a:r>
              <a:rPr lang="en-US" sz="1600" b="1" dirty="0">
                <a:solidFill>
                  <a:srgbClr val="5A6B70"/>
                </a:solidFill>
                <a:latin typeface="Cambria" panose="02040503050406030204" pitchFamily="18" charset="0"/>
                <a:ea typeface="Cambria" panose="02040503050406030204" pitchFamily="18" charset="0"/>
                <a:cs typeface="Calibri" pitchFamily="34" charset="-120"/>
              </a:rPr>
              <a:t>Response</a:t>
            </a:r>
            <a:endParaRPr lang="en-US" sz="1600" dirty="0">
              <a:latin typeface="Cambria" panose="02040503050406030204" pitchFamily="18" charset="0"/>
              <a:ea typeface="Cambria" panose="02040503050406030204" pitchFamily="18" charset="0"/>
            </a:endParaRPr>
          </a:p>
        </p:txBody>
      </p:sp>
      <p:sp>
        <p:nvSpPr>
          <p:cNvPr id="26" name="Text 24"/>
          <p:cNvSpPr txBox="1"/>
          <p:nvPr/>
        </p:nvSpPr>
        <p:spPr>
          <a:xfrm>
            <a:off x="4681728" y="3056022"/>
            <a:ext cx="1920240" cy="534924"/>
          </a:xfrm>
          <a:prstGeom prst="rect">
            <a:avLst/>
          </a:prstGeom>
          <a:noFill/>
          <a:ln/>
        </p:spPr>
        <p:txBody>
          <a:bodyPr wrap="square" lIns="0" tIns="0" rIns="0" bIns="0" rtlCol="0" anchor="ct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Permission denied</a:t>
            </a:r>
            <a:endParaRPr lang="en-US" sz="1200" dirty="0">
              <a:latin typeface="Cambria" panose="02040503050406030204" pitchFamily="18" charset="0"/>
              <a:ea typeface="Cambria" panose="02040503050406030204" pitchFamily="18" charset="0"/>
            </a:endParaRPr>
          </a:p>
        </p:txBody>
      </p:sp>
      <p:sp>
        <p:nvSpPr>
          <p:cNvPr id="27" name="Text 25"/>
          <p:cNvSpPr txBox="1"/>
          <p:nvPr/>
        </p:nvSpPr>
        <p:spPr>
          <a:xfrm>
            <a:off x="6647688" y="3056022"/>
            <a:ext cx="1051560" cy="534924"/>
          </a:xfrm>
          <a:prstGeom prst="rect">
            <a:avLst/>
          </a:prstGeom>
          <a:noFill/>
          <a:ln/>
        </p:spPr>
        <p:txBody>
          <a:bodyPr wrap="square" lIns="0" tIns="0" rIns="0" bIns="0" rtlCol="0" anchor="ctr"/>
          <a:lstStyle/>
          <a:p>
            <a:pPr marL="0" indent="0">
              <a:buNone/>
            </a:pPr>
            <a:r>
              <a:rPr lang="en-US" sz="1100" dirty="0">
                <a:solidFill>
                  <a:srgbClr val="2E7D74"/>
                </a:solidFill>
                <a:latin typeface="Cambria" panose="02040503050406030204" pitchFamily="18" charset="0"/>
                <a:ea typeface="Cambria" panose="02040503050406030204" pitchFamily="18" charset="0"/>
                <a:cs typeface="Calibri" pitchFamily="34" charset="-120"/>
              </a:rPr>
              <a:t>Capability</a:t>
            </a:r>
            <a:endParaRPr lang="en-US" sz="1100" dirty="0">
              <a:latin typeface="Cambria" panose="02040503050406030204" pitchFamily="18" charset="0"/>
              <a:ea typeface="Cambria" panose="02040503050406030204" pitchFamily="18" charset="0"/>
            </a:endParaRPr>
          </a:p>
        </p:txBody>
      </p:sp>
      <p:sp>
        <p:nvSpPr>
          <p:cNvPr id="28" name="Text 26"/>
          <p:cNvSpPr txBox="1"/>
          <p:nvPr/>
        </p:nvSpPr>
        <p:spPr>
          <a:xfrm>
            <a:off x="7699248" y="3056022"/>
            <a:ext cx="3749040" cy="534924"/>
          </a:xfrm>
          <a:prstGeom prst="rect">
            <a:avLst/>
          </a:prstGeom>
          <a:noFill/>
          <a:ln/>
        </p:spPr>
        <p:txBody>
          <a:bodyPr wrap="square" lIns="0" tIns="0" rIns="0" bIns="0" rtlCol="0" anchor="ctr"/>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Explain the exchange, re-ask once, deep-link to settings. Still no: assisted rail, no penalty</a:t>
            </a:r>
            <a:endParaRPr lang="en-US" sz="1100" dirty="0">
              <a:latin typeface="Cambria" panose="02040503050406030204" pitchFamily="18" charset="0"/>
              <a:ea typeface="Cambria" panose="02040503050406030204" pitchFamily="18" charset="0"/>
            </a:endParaRPr>
          </a:p>
        </p:txBody>
      </p:sp>
      <p:sp>
        <p:nvSpPr>
          <p:cNvPr id="29" name="Shape 27"/>
          <p:cNvSpPr/>
          <p:nvPr/>
        </p:nvSpPr>
        <p:spPr>
          <a:xfrm>
            <a:off x="4498848" y="3590946"/>
            <a:ext cx="7123176" cy="534924"/>
          </a:xfrm>
          <a:prstGeom prst="rect">
            <a:avLst/>
          </a:prstGeom>
          <a:solidFill>
            <a:srgbClr val="F7F9F9"/>
          </a:solidFill>
          <a:ln/>
        </p:spPr>
      </p:sp>
      <p:sp>
        <p:nvSpPr>
          <p:cNvPr id="30" name="Text 28"/>
          <p:cNvSpPr txBox="1"/>
          <p:nvPr/>
        </p:nvSpPr>
        <p:spPr>
          <a:xfrm>
            <a:off x="4681728" y="3590946"/>
            <a:ext cx="1920240" cy="534924"/>
          </a:xfrm>
          <a:prstGeom prst="rect">
            <a:avLst/>
          </a:prstGeom>
          <a:noFill/>
          <a:ln/>
        </p:spPr>
        <p:txBody>
          <a:bodyPr wrap="square" lIns="0" tIns="0" rIns="0" bIns="0" rtlCol="0" anchor="ct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Weak GPS lock</a:t>
            </a:r>
            <a:endParaRPr lang="en-US" sz="1200" dirty="0">
              <a:latin typeface="Cambria" panose="02040503050406030204" pitchFamily="18" charset="0"/>
              <a:ea typeface="Cambria" panose="02040503050406030204" pitchFamily="18" charset="0"/>
            </a:endParaRPr>
          </a:p>
        </p:txBody>
      </p:sp>
      <p:sp>
        <p:nvSpPr>
          <p:cNvPr id="31" name="Text 29"/>
          <p:cNvSpPr txBox="1"/>
          <p:nvPr/>
        </p:nvSpPr>
        <p:spPr>
          <a:xfrm>
            <a:off x="6647688" y="3590946"/>
            <a:ext cx="1051560" cy="534924"/>
          </a:xfrm>
          <a:prstGeom prst="rect">
            <a:avLst/>
          </a:prstGeom>
          <a:noFill/>
          <a:ln/>
        </p:spPr>
        <p:txBody>
          <a:bodyPr wrap="square" lIns="0" tIns="0" rIns="0" bIns="0" rtlCol="0" anchor="ctr"/>
          <a:lstStyle/>
          <a:p>
            <a:pPr marL="0" indent="0">
              <a:buNone/>
            </a:pPr>
            <a:r>
              <a:rPr lang="en-US" sz="1100" dirty="0">
                <a:solidFill>
                  <a:srgbClr val="2E7D74"/>
                </a:solidFill>
                <a:latin typeface="Cambria" panose="02040503050406030204" pitchFamily="18" charset="0"/>
                <a:ea typeface="Cambria" panose="02040503050406030204" pitchFamily="18" charset="0"/>
                <a:cs typeface="Calibri" pitchFamily="34" charset="-120"/>
              </a:rPr>
              <a:t>Capability</a:t>
            </a:r>
            <a:endParaRPr lang="en-US" sz="1100" dirty="0">
              <a:latin typeface="Cambria" panose="02040503050406030204" pitchFamily="18" charset="0"/>
              <a:ea typeface="Cambria" panose="02040503050406030204" pitchFamily="18" charset="0"/>
            </a:endParaRPr>
          </a:p>
        </p:txBody>
      </p:sp>
      <p:sp>
        <p:nvSpPr>
          <p:cNvPr id="32" name="Text 30"/>
          <p:cNvSpPr txBox="1"/>
          <p:nvPr/>
        </p:nvSpPr>
        <p:spPr>
          <a:xfrm>
            <a:off x="7699248" y="3590946"/>
            <a:ext cx="3749040" cy="534924"/>
          </a:xfrm>
          <a:prstGeom prst="rect">
            <a:avLst/>
          </a:prstGeom>
          <a:noFill/>
          <a:ln/>
        </p:spPr>
        <p:txBody>
          <a:bodyPr wrap="square" lIns="0" tIns="0" rIns="0" bIns="0" rtlCol="0" anchor="ctr"/>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Hold capture until accuracy threshold is met. Timeout routes out never accept a bad fix</a:t>
            </a:r>
            <a:endParaRPr lang="en-US" sz="1100" dirty="0">
              <a:latin typeface="Cambria" panose="02040503050406030204" pitchFamily="18" charset="0"/>
              <a:ea typeface="Cambria" panose="02040503050406030204" pitchFamily="18" charset="0"/>
            </a:endParaRPr>
          </a:p>
        </p:txBody>
      </p:sp>
      <p:sp>
        <p:nvSpPr>
          <p:cNvPr id="33" name="Text 31"/>
          <p:cNvSpPr txBox="1"/>
          <p:nvPr/>
        </p:nvSpPr>
        <p:spPr>
          <a:xfrm>
            <a:off x="4681728" y="4125870"/>
            <a:ext cx="1920240" cy="534924"/>
          </a:xfrm>
          <a:prstGeom prst="rect">
            <a:avLst/>
          </a:prstGeom>
          <a:noFill/>
          <a:ln/>
        </p:spPr>
        <p:txBody>
          <a:bodyPr wrap="square" lIns="0" tIns="0" rIns="0" bIns="0" rtlCol="0" anchor="ct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Dark, blurry, wrong subject</a:t>
            </a:r>
            <a:endParaRPr lang="en-US" sz="1200" dirty="0">
              <a:latin typeface="Cambria" panose="02040503050406030204" pitchFamily="18" charset="0"/>
              <a:ea typeface="Cambria" panose="02040503050406030204" pitchFamily="18" charset="0"/>
            </a:endParaRPr>
          </a:p>
        </p:txBody>
      </p:sp>
      <p:sp>
        <p:nvSpPr>
          <p:cNvPr id="34" name="Text 32"/>
          <p:cNvSpPr txBox="1"/>
          <p:nvPr/>
        </p:nvSpPr>
        <p:spPr>
          <a:xfrm>
            <a:off x="6647688" y="4125870"/>
            <a:ext cx="1051560" cy="534924"/>
          </a:xfrm>
          <a:prstGeom prst="rect">
            <a:avLst/>
          </a:prstGeom>
          <a:noFill/>
          <a:ln/>
        </p:spPr>
        <p:txBody>
          <a:bodyPr wrap="square" lIns="0" tIns="0" rIns="0" bIns="0" rtlCol="0" anchor="ctr"/>
          <a:lstStyle/>
          <a:p>
            <a:pPr marL="0" indent="0">
              <a:buNone/>
            </a:pPr>
            <a:r>
              <a:rPr lang="en-US" sz="1100" dirty="0">
                <a:solidFill>
                  <a:srgbClr val="2E7D74"/>
                </a:solidFill>
                <a:latin typeface="Cambria" panose="02040503050406030204" pitchFamily="18" charset="0"/>
                <a:ea typeface="Cambria" panose="02040503050406030204" pitchFamily="18" charset="0"/>
                <a:cs typeface="Calibri" pitchFamily="34" charset="-120"/>
              </a:rPr>
              <a:t>Quality</a:t>
            </a:r>
            <a:endParaRPr lang="en-US" sz="1100" dirty="0">
              <a:latin typeface="Cambria" panose="02040503050406030204" pitchFamily="18" charset="0"/>
              <a:ea typeface="Cambria" panose="02040503050406030204" pitchFamily="18" charset="0"/>
            </a:endParaRPr>
          </a:p>
        </p:txBody>
      </p:sp>
      <p:sp>
        <p:nvSpPr>
          <p:cNvPr id="35" name="Text 33"/>
          <p:cNvSpPr txBox="1"/>
          <p:nvPr/>
        </p:nvSpPr>
        <p:spPr>
          <a:xfrm>
            <a:off x="7699248" y="4125870"/>
            <a:ext cx="3749040" cy="534924"/>
          </a:xfrm>
          <a:prstGeom prst="rect">
            <a:avLst/>
          </a:prstGeom>
          <a:noFill/>
          <a:ln/>
        </p:spPr>
        <p:txBody>
          <a:bodyPr wrap="square" lIns="0" tIns="0" rIns="0" bIns="0" rtlCol="0" anchor="ctr"/>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Specific spoken retry, on device, in the second before submission</a:t>
            </a:r>
            <a:endParaRPr lang="en-US" sz="1100" dirty="0">
              <a:latin typeface="Cambria" panose="02040503050406030204" pitchFamily="18" charset="0"/>
              <a:ea typeface="Cambria" panose="02040503050406030204" pitchFamily="18" charset="0"/>
            </a:endParaRPr>
          </a:p>
        </p:txBody>
      </p:sp>
      <p:sp>
        <p:nvSpPr>
          <p:cNvPr id="36" name="Shape 34"/>
          <p:cNvSpPr/>
          <p:nvPr/>
        </p:nvSpPr>
        <p:spPr>
          <a:xfrm>
            <a:off x="4498848" y="4660794"/>
            <a:ext cx="7123176" cy="534924"/>
          </a:xfrm>
          <a:prstGeom prst="rect">
            <a:avLst/>
          </a:prstGeom>
          <a:solidFill>
            <a:srgbClr val="F7F9F9"/>
          </a:solidFill>
          <a:ln/>
        </p:spPr>
      </p:sp>
      <p:sp>
        <p:nvSpPr>
          <p:cNvPr id="37" name="Text 35"/>
          <p:cNvSpPr txBox="1"/>
          <p:nvPr/>
        </p:nvSpPr>
        <p:spPr>
          <a:xfrm>
            <a:off x="4681728" y="4660794"/>
            <a:ext cx="1920240" cy="534924"/>
          </a:xfrm>
          <a:prstGeom prst="rect">
            <a:avLst/>
          </a:prstGeom>
          <a:noFill/>
          <a:ln/>
        </p:spPr>
        <p:txBody>
          <a:bodyPr wrap="square" lIns="0" tIns="0" rIns="0" bIns="0" rtlCol="0" anchor="ct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Connectivity or storage</a:t>
            </a:r>
            <a:endParaRPr lang="en-US" sz="1200" dirty="0">
              <a:latin typeface="Cambria" panose="02040503050406030204" pitchFamily="18" charset="0"/>
              <a:ea typeface="Cambria" panose="02040503050406030204" pitchFamily="18" charset="0"/>
            </a:endParaRPr>
          </a:p>
        </p:txBody>
      </p:sp>
      <p:sp>
        <p:nvSpPr>
          <p:cNvPr id="38" name="Text 36"/>
          <p:cNvSpPr txBox="1"/>
          <p:nvPr/>
        </p:nvSpPr>
        <p:spPr>
          <a:xfrm>
            <a:off x="6647688" y="4660794"/>
            <a:ext cx="1051560" cy="534924"/>
          </a:xfrm>
          <a:prstGeom prst="rect">
            <a:avLst/>
          </a:prstGeom>
          <a:noFill/>
          <a:ln/>
        </p:spPr>
        <p:txBody>
          <a:bodyPr wrap="square" lIns="0" tIns="0" rIns="0" bIns="0" rtlCol="0" anchor="ctr"/>
          <a:lstStyle/>
          <a:p>
            <a:pPr marL="0" indent="0">
              <a:buNone/>
            </a:pPr>
            <a:r>
              <a:rPr lang="en-US" sz="1100" dirty="0">
                <a:solidFill>
                  <a:srgbClr val="2E7D74"/>
                </a:solidFill>
                <a:latin typeface="Cambria" panose="02040503050406030204" pitchFamily="18" charset="0"/>
                <a:ea typeface="Cambria" panose="02040503050406030204" pitchFamily="18" charset="0"/>
                <a:cs typeface="Calibri" pitchFamily="34" charset="-120"/>
              </a:rPr>
              <a:t>Capability</a:t>
            </a:r>
            <a:endParaRPr lang="en-US" sz="1100" dirty="0">
              <a:latin typeface="Cambria" panose="02040503050406030204" pitchFamily="18" charset="0"/>
              <a:ea typeface="Cambria" panose="02040503050406030204" pitchFamily="18" charset="0"/>
            </a:endParaRPr>
          </a:p>
        </p:txBody>
      </p:sp>
      <p:sp>
        <p:nvSpPr>
          <p:cNvPr id="39" name="Text 37"/>
          <p:cNvSpPr txBox="1"/>
          <p:nvPr/>
        </p:nvSpPr>
        <p:spPr>
          <a:xfrm>
            <a:off x="7699248" y="4660794"/>
            <a:ext cx="3749040" cy="534924"/>
          </a:xfrm>
          <a:prstGeom prst="rect">
            <a:avLst/>
          </a:prstGeom>
          <a:noFill/>
          <a:ln/>
        </p:spPr>
        <p:txBody>
          <a:bodyPr wrap="square" lIns="0" tIns="0" rIns="0" bIns="0" rtlCol="0" anchor="ctr"/>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Queue and resume across app kill. Degraded stills mode, scored one tier lower</a:t>
            </a:r>
            <a:endParaRPr lang="en-US" sz="1100" dirty="0">
              <a:latin typeface="Cambria" panose="02040503050406030204" pitchFamily="18" charset="0"/>
              <a:ea typeface="Cambria" panose="02040503050406030204" pitchFamily="18" charset="0"/>
            </a:endParaRPr>
          </a:p>
        </p:txBody>
      </p:sp>
      <p:sp>
        <p:nvSpPr>
          <p:cNvPr id="40" name="Text 38"/>
          <p:cNvSpPr txBox="1"/>
          <p:nvPr/>
        </p:nvSpPr>
        <p:spPr>
          <a:xfrm>
            <a:off x="4681728" y="5195718"/>
            <a:ext cx="1920240" cy="534924"/>
          </a:xfrm>
          <a:prstGeom prst="rect">
            <a:avLst/>
          </a:prstGeom>
          <a:noFill/>
          <a:ln/>
        </p:spPr>
        <p:txBody>
          <a:bodyPr wrap="square" lIns="0" tIns="0" rIns="0" bIns="0" rtlCol="0" anchor="ct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Distance, staleness, injection</a:t>
            </a:r>
            <a:endParaRPr lang="en-US" sz="1200" dirty="0">
              <a:latin typeface="Cambria" panose="02040503050406030204" pitchFamily="18" charset="0"/>
              <a:ea typeface="Cambria" panose="02040503050406030204" pitchFamily="18" charset="0"/>
            </a:endParaRPr>
          </a:p>
        </p:txBody>
      </p:sp>
      <p:sp>
        <p:nvSpPr>
          <p:cNvPr id="41" name="Text 39"/>
          <p:cNvSpPr txBox="1"/>
          <p:nvPr/>
        </p:nvSpPr>
        <p:spPr>
          <a:xfrm>
            <a:off x="6647688" y="5195718"/>
            <a:ext cx="1051560" cy="534924"/>
          </a:xfrm>
          <a:prstGeom prst="rect">
            <a:avLst/>
          </a:prstGeom>
          <a:noFill/>
          <a:ln/>
        </p:spPr>
        <p:txBody>
          <a:bodyPr wrap="square" lIns="0" tIns="0" rIns="0" bIns="0" rtlCol="0" anchor="ctr"/>
          <a:lstStyle/>
          <a:p>
            <a:pPr marL="0" indent="0">
              <a:buNone/>
            </a:pPr>
            <a:r>
              <a:rPr lang="en-US" sz="1100" dirty="0">
                <a:solidFill>
                  <a:srgbClr val="C2571A"/>
                </a:solidFill>
                <a:latin typeface="Cambria" panose="02040503050406030204" pitchFamily="18" charset="0"/>
                <a:ea typeface="Cambria" panose="02040503050406030204" pitchFamily="18" charset="0"/>
                <a:cs typeface="Calibri" pitchFamily="34" charset="-120"/>
              </a:rPr>
              <a:t>Integrity</a:t>
            </a:r>
            <a:endParaRPr lang="en-US" sz="1100" dirty="0">
              <a:latin typeface="Cambria" panose="02040503050406030204" pitchFamily="18" charset="0"/>
              <a:ea typeface="Cambria" panose="02040503050406030204" pitchFamily="18" charset="0"/>
            </a:endParaRPr>
          </a:p>
        </p:txBody>
      </p:sp>
      <p:sp>
        <p:nvSpPr>
          <p:cNvPr id="42" name="Text 40"/>
          <p:cNvSpPr txBox="1"/>
          <p:nvPr/>
        </p:nvSpPr>
        <p:spPr>
          <a:xfrm>
            <a:off x="7699248" y="5195718"/>
            <a:ext cx="3749040" cy="534924"/>
          </a:xfrm>
          <a:prstGeom prst="rect">
            <a:avLst/>
          </a:prstGeom>
          <a:noFill/>
          <a:ln/>
        </p:spPr>
        <p:txBody>
          <a:bodyPr wrap="square" lIns="0" tIns="0" rIns="0" bIns="0" rtlCol="0" anchor="ctr"/>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Generic message, no retry loop, silent flag, routed sideways</a:t>
            </a:r>
            <a:endParaRPr lang="en-US" sz="1100" dirty="0">
              <a:latin typeface="Cambria" panose="02040503050406030204" pitchFamily="18" charset="0"/>
              <a:ea typeface="Cambria" panose="02040503050406030204" pitchFamily="18" charset="0"/>
            </a:endParaRPr>
          </a:p>
        </p:txBody>
      </p:sp>
      <p:sp>
        <p:nvSpPr>
          <p:cNvPr id="43" name="Shape 41"/>
          <p:cNvSpPr/>
          <p:nvPr/>
        </p:nvSpPr>
        <p:spPr>
          <a:xfrm>
            <a:off x="4498848" y="5730642"/>
            <a:ext cx="7123176" cy="534924"/>
          </a:xfrm>
          <a:prstGeom prst="rect">
            <a:avLst/>
          </a:prstGeom>
          <a:solidFill>
            <a:srgbClr val="F7F9F9"/>
          </a:solidFill>
          <a:ln/>
        </p:spPr>
      </p:sp>
      <p:sp>
        <p:nvSpPr>
          <p:cNvPr id="44" name="Text 42"/>
          <p:cNvSpPr txBox="1"/>
          <p:nvPr/>
        </p:nvSpPr>
        <p:spPr>
          <a:xfrm>
            <a:off x="4681728" y="5730642"/>
            <a:ext cx="1920240" cy="534924"/>
          </a:xfrm>
          <a:prstGeom prst="rect">
            <a:avLst/>
          </a:prstGeom>
          <a:noFill/>
          <a:ln/>
        </p:spPr>
        <p:txBody>
          <a:bodyPr wrap="square" lIns="0" tIns="0" rIns="0" bIns="0" rtlCol="0" anchor="ct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Face mismatch</a:t>
            </a:r>
            <a:endParaRPr lang="en-US" sz="1200" dirty="0">
              <a:latin typeface="Cambria" panose="02040503050406030204" pitchFamily="18" charset="0"/>
              <a:ea typeface="Cambria" panose="02040503050406030204" pitchFamily="18" charset="0"/>
            </a:endParaRPr>
          </a:p>
        </p:txBody>
      </p:sp>
      <p:sp>
        <p:nvSpPr>
          <p:cNvPr id="45" name="Text 43"/>
          <p:cNvSpPr txBox="1"/>
          <p:nvPr/>
        </p:nvSpPr>
        <p:spPr>
          <a:xfrm>
            <a:off x="6647688" y="5730642"/>
            <a:ext cx="1051560" cy="534924"/>
          </a:xfrm>
          <a:prstGeom prst="rect">
            <a:avLst/>
          </a:prstGeom>
          <a:noFill/>
          <a:ln/>
        </p:spPr>
        <p:txBody>
          <a:bodyPr wrap="square" lIns="0" tIns="0" rIns="0" bIns="0" rtlCol="0" anchor="ctr"/>
          <a:lstStyle/>
          <a:p>
            <a:pPr marL="0" indent="0">
              <a:buNone/>
            </a:pPr>
            <a:r>
              <a:rPr lang="en-US" sz="1100" dirty="0">
                <a:solidFill>
                  <a:srgbClr val="2E7D74"/>
                </a:solidFill>
                <a:latin typeface="Cambria" panose="02040503050406030204" pitchFamily="18" charset="0"/>
                <a:ea typeface="Cambria" panose="02040503050406030204" pitchFamily="18" charset="0"/>
                <a:cs typeface="Calibri" pitchFamily="34" charset="-120"/>
              </a:rPr>
              <a:t>Banded</a:t>
            </a:r>
            <a:endParaRPr lang="en-US" sz="1100" dirty="0">
              <a:latin typeface="Cambria" panose="02040503050406030204" pitchFamily="18" charset="0"/>
              <a:ea typeface="Cambria" panose="02040503050406030204" pitchFamily="18" charset="0"/>
            </a:endParaRPr>
          </a:p>
        </p:txBody>
      </p:sp>
      <p:sp>
        <p:nvSpPr>
          <p:cNvPr id="46" name="Text 44"/>
          <p:cNvSpPr txBox="1"/>
          <p:nvPr/>
        </p:nvSpPr>
        <p:spPr>
          <a:xfrm>
            <a:off x="7699248" y="5730642"/>
            <a:ext cx="3749040" cy="534924"/>
          </a:xfrm>
          <a:prstGeom prst="rect">
            <a:avLst/>
          </a:prstGeom>
          <a:noFill/>
          <a:ln/>
        </p:spPr>
        <p:txBody>
          <a:bodyPr wrap="square" lIns="0" tIns="0" rIns="0" bIns="0" rtlCol="0" anchor="ctr"/>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Clear non-match routes sideways. Borderline retries, then an is-this-your-phone branch</a:t>
            </a:r>
            <a:endParaRPr lang="en-US" sz="11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What the machine can settle and what it honestly cannot</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There is no reference image of anyone's house. Verification is triangulation, not image matching.</a:t>
            </a:r>
            <a:endParaRPr lang="en-US" sz="1400" dirty="0">
              <a:latin typeface="Cambria" panose="02040503050406030204" pitchFamily="18" charset="0"/>
              <a:ea typeface="Cambria" panose="02040503050406030204" pitchFamily="18" charset="0"/>
            </a:endParaRPr>
          </a:p>
        </p:txBody>
      </p:sp>
      <p:sp>
        <p:nvSpPr>
          <p:cNvPr id="4" name="Shape 2"/>
          <p:cNvSpPr/>
          <p:nvPr/>
        </p:nvSpPr>
        <p:spPr>
          <a:xfrm>
            <a:off x="566928" y="1371600"/>
            <a:ext cx="3538728" cy="4348480"/>
          </a:xfrm>
          <a:prstGeom prst="roundRect">
            <a:avLst>
              <a:gd name="adj" fmla="val 2067"/>
            </a:avLst>
          </a:prstGeom>
          <a:solidFill>
            <a:srgbClr val="FFFFFF"/>
          </a:solidFill>
          <a:ln w="9525">
            <a:solidFill>
              <a:srgbClr val="D6DFE1"/>
            </a:solidFill>
            <a:prstDash val="solid"/>
          </a:ln>
        </p:spPr>
      </p:sp>
      <p:sp>
        <p:nvSpPr>
          <p:cNvPr id="5" name="Text 3"/>
          <p:cNvSpPr txBox="1"/>
          <p:nvPr/>
        </p:nvSpPr>
        <p:spPr>
          <a:xfrm>
            <a:off x="804672" y="1572768"/>
            <a:ext cx="3017520" cy="274320"/>
          </a:xfrm>
          <a:prstGeom prst="rect">
            <a:avLst/>
          </a:prstGeom>
          <a:noFill/>
          <a:ln/>
        </p:spPr>
        <p:txBody>
          <a:bodyPr wrap="square" lIns="0" tIns="0" rIns="0" bIns="0" rtlCol="0" anchor="ctr"/>
          <a:lstStyle/>
          <a:p>
            <a:pPr marL="0" indent="0">
              <a:buNone/>
            </a:pPr>
            <a:r>
              <a:rPr lang="en-US" b="1" dirty="0">
                <a:solidFill>
                  <a:srgbClr val="2E7D74"/>
                </a:solidFill>
                <a:latin typeface="Cambria" panose="02040503050406030204" pitchFamily="18" charset="0"/>
                <a:ea typeface="Cambria" panose="02040503050406030204" pitchFamily="18" charset="0"/>
                <a:cs typeface="Calibri" pitchFamily="34" charset="-120"/>
              </a:rPr>
              <a:t>How it decides, and how fast</a:t>
            </a:r>
            <a:endParaRPr lang="en-US" dirty="0">
              <a:latin typeface="Cambria" panose="02040503050406030204" pitchFamily="18" charset="0"/>
              <a:ea typeface="Cambria" panose="02040503050406030204" pitchFamily="18" charset="0"/>
            </a:endParaRPr>
          </a:p>
        </p:txBody>
      </p:sp>
      <p:sp>
        <p:nvSpPr>
          <p:cNvPr id="6" name="Text 4"/>
          <p:cNvSpPr txBox="1"/>
          <p:nvPr/>
        </p:nvSpPr>
        <p:spPr>
          <a:xfrm>
            <a:off x="804672" y="1920240"/>
            <a:ext cx="3108960" cy="201168"/>
          </a:xfrm>
          <a:prstGeom prst="rect">
            <a:avLst/>
          </a:prstGeom>
          <a:noFill/>
          <a:ln/>
        </p:spPr>
        <p:txBody>
          <a:bodyPr wrap="square" lIns="0" tIns="0" rIns="0" bIns="0" rtlCol="0" anchor="t"/>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Preview stream · milliseconds</a:t>
            </a:r>
            <a:endParaRPr lang="en-US" sz="1200" dirty="0">
              <a:latin typeface="Cambria" panose="02040503050406030204" pitchFamily="18" charset="0"/>
              <a:ea typeface="Cambria" panose="02040503050406030204" pitchFamily="18" charset="0"/>
            </a:endParaRPr>
          </a:p>
        </p:txBody>
      </p:sp>
      <p:sp>
        <p:nvSpPr>
          <p:cNvPr id="7" name="Text 5"/>
          <p:cNvSpPr txBox="1"/>
          <p:nvPr/>
        </p:nvSpPr>
        <p:spPr>
          <a:xfrm>
            <a:off x="804672" y="2121408"/>
            <a:ext cx="3108960" cy="548640"/>
          </a:xfrm>
          <a:prstGeom prst="rect">
            <a:avLst/>
          </a:prstGeom>
          <a:noFill/>
          <a:ln/>
        </p:spPr>
        <p:txBody>
          <a:bodyPr wrap="square" lIns="0" tIns="0" rIns="0" bIns="0" rtlCol="0" anchor="t"/>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Blur, exposure, face present, camera actually moving. Arithmetic on pixels and sensors, not ML so the shutter simply refuses to fire on a bad frame.</a:t>
            </a:r>
            <a:endParaRPr lang="en-US" sz="1100" dirty="0">
              <a:latin typeface="Cambria" panose="02040503050406030204" pitchFamily="18" charset="0"/>
              <a:ea typeface="Cambria" panose="02040503050406030204" pitchFamily="18" charset="0"/>
            </a:endParaRPr>
          </a:p>
        </p:txBody>
      </p:sp>
      <p:sp>
        <p:nvSpPr>
          <p:cNvPr id="8" name="Text 6"/>
          <p:cNvSpPr txBox="1"/>
          <p:nvPr/>
        </p:nvSpPr>
        <p:spPr>
          <a:xfrm>
            <a:off x="804672" y="2738120"/>
            <a:ext cx="3108960" cy="201168"/>
          </a:xfrm>
          <a:prstGeom prst="rect">
            <a:avLst/>
          </a:prstGeom>
          <a:noFill/>
          <a:ln/>
        </p:spPr>
        <p:txBody>
          <a:bodyPr wrap="square" lIns="0" tIns="0" rIns="0" bIns="0" rtlCol="0" anchor="t"/>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On device · under a second</a:t>
            </a:r>
            <a:endParaRPr lang="en-US" sz="1200" dirty="0">
              <a:latin typeface="Cambria" panose="02040503050406030204" pitchFamily="18" charset="0"/>
              <a:ea typeface="Cambria" panose="02040503050406030204" pitchFamily="18" charset="0"/>
            </a:endParaRPr>
          </a:p>
        </p:txBody>
      </p:sp>
      <p:sp>
        <p:nvSpPr>
          <p:cNvPr id="9" name="Text 7"/>
          <p:cNvSpPr txBox="1"/>
          <p:nvPr/>
        </p:nvSpPr>
        <p:spPr>
          <a:xfrm>
            <a:off x="804672" y="2939288"/>
            <a:ext cx="3108960" cy="548640"/>
          </a:xfrm>
          <a:prstGeom prst="rect">
            <a:avLst/>
          </a:prstGeom>
          <a:noFill/>
          <a:ln/>
        </p:spPr>
        <p:txBody>
          <a:bodyPr wrap="square" lIns="0" tIns="0" rIns="0" bIns="0" rtlCol="0" anchor="t"/>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Door number read by OCR with a confidence score, screen-recapture detection, GPS lock quality.</a:t>
            </a:r>
            <a:endParaRPr lang="en-US" sz="1100" dirty="0">
              <a:latin typeface="Cambria" panose="02040503050406030204" pitchFamily="18" charset="0"/>
              <a:ea typeface="Cambria" panose="02040503050406030204" pitchFamily="18" charset="0"/>
            </a:endParaRPr>
          </a:p>
        </p:txBody>
      </p:sp>
      <p:sp>
        <p:nvSpPr>
          <p:cNvPr id="10" name="Text 8"/>
          <p:cNvSpPr txBox="1"/>
          <p:nvPr/>
        </p:nvSpPr>
        <p:spPr>
          <a:xfrm>
            <a:off x="804672" y="3474720"/>
            <a:ext cx="3108960" cy="201168"/>
          </a:xfrm>
          <a:prstGeom prst="rect">
            <a:avLst/>
          </a:prstGeom>
          <a:noFill/>
          <a:ln/>
        </p:spPr>
        <p:txBody>
          <a:bodyPr wrap="square" lIns="0" tIns="0" rIns="0" bIns="0" rtlCol="0" anchor="t"/>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With us · two to five seconds</a:t>
            </a:r>
            <a:endParaRPr lang="en-US" sz="1200" dirty="0">
              <a:latin typeface="Cambria" panose="02040503050406030204" pitchFamily="18" charset="0"/>
              <a:ea typeface="Cambria" panose="02040503050406030204" pitchFamily="18" charset="0"/>
            </a:endParaRPr>
          </a:p>
        </p:txBody>
      </p:sp>
      <p:sp>
        <p:nvSpPr>
          <p:cNvPr id="11" name="Text 9"/>
          <p:cNvSpPr txBox="1"/>
          <p:nvPr/>
        </p:nvSpPr>
        <p:spPr>
          <a:xfrm>
            <a:off x="804672" y="3675888"/>
            <a:ext cx="3108960" cy="548640"/>
          </a:xfrm>
          <a:prstGeom prst="rect">
            <a:avLst/>
          </a:prstGeom>
          <a:noFill/>
          <a:ln/>
        </p:spPr>
        <p:txBody>
          <a:bodyPr wrap="square" lIns="0" tIns="0" rIns="0" bIns="0" rtlCol="0" anchor="t"/>
          <a:lstStyle/>
          <a:p>
            <a:pPr marL="0" indent="0">
              <a:buNone/>
            </a:pPr>
            <a:r>
              <a:rPr lang="en-US" sz="1100" dirty="0">
                <a:solidFill>
                  <a:srgbClr val="1C2B31"/>
                </a:solidFill>
                <a:latin typeface="Cambria" panose="02040503050406030204" pitchFamily="18" charset="0"/>
                <a:ea typeface="Cambria" panose="02040503050406030204" pitchFamily="18" charset="0"/>
                <a:cs typeface="Calibri" pitchFamily="34" charset="-120"/>
              </a:rPr>
              <a:t>Face match to the KYC reference, device attestation, mock location, portfolio-wide image hashing, corroboration.</a:t>
            </a:r>
            <a:endParaRPr lang="en-US" sz="1100" dirty="0">
              <a:latin typeface="Cambria" panose="02040503050406030204" pitchFamily="18" charset="0"/>
              <a:ea typeface="Cambria" panose="02040503050406030204" pitchFamily="18" charset="0"/>
            </a:endParaRPr>
          </a:p>
        </p:txBody>
      </p:sp>
      <p:sp>
        <p:nvSpPr>
          <p:cNvPr id="12" name="Text 10"/>
          <p:cNvSpPr txBox="1"/>
          <p:nvPr/>
        </p:nvSpPr>
        <p:spPr>
          <a:xfrm>
            <a:off x="804672" y="4331208"/>
            <a:ext cx="3108960" cy="1388872"/>
          </a:xfrm>
          <a:prstGeom prst="rect">
            <a:avLst/>
          </a:prstGeom>
          <a:noFill/>
          <a:ln/>
        </p:spPr>
        <p:txBody>
          <a:bodyPr wrap="square" lIns="0" tIns="0" rIns="0" bIns="0" rtlCol="0" anchor="t"/>
          <a:lstStyle/>
          <a:p>
            <a:pPr marL="0" indent="0">
              <a:buNone/>
            </a:pPr>
            <a:r>
              <a:rPr lang="en-US" sz="1200" i="1" dirty="0">
                <a:latin typeface="Cambria" panose="02040503050406030204" pitchFamily="18" charset="0"/>
                <a:ea typeface="Cambria" panose="02040503050406030204" pitchFamily="18" charset="0"/>
                <a:cs typeface="Calibri" pitchFamily="34" charset="-120"/>
              </a:rPr>
              <a:t>Two honest limits: whether the street view is genuinely sufficient is approximated by motion and scene change, not understood. And face match is banded a clear non-match routes sideways, a borderline one retries, because stale reference photos and shared phones are likelier than fraud.</a:t>
            </a:r>
            <a:endParaRPr lang="en-US" sz="1200" dirty="0">
              <a:latin typeface="Cambria" panose="02040503050406030204" pitchFamily="18" charset="0"/>
              <a:ea typeface="Cambria" panose="02040503050406030204" pitchFamily="18" charset="0"/>
            </a:endParaRPr>
          </a:p>
        </p:txBody>
      </p:sp>
      <p:sp>
        <p:nvSpPr>
          <p:cNvPr id="13" name="Shape 11"/>
          <p:cNvSpPr/>
          <p:nvPr/>
        </p:nvSpPr>
        <p:spPr>
          <a:xfrm>
            <a:off x="4334256" y="1371600"/>
            <a:ext cx="3538728" cy="4348480"/>
          </a:xfrm>
          <a:prstGeom prst="roundRect">
            <a:avLst>
              <a:gd name="adj" fmla="val 2067"/>
            </a:avLst>
          </a:prstGeom>
          <a:solidFill>
            <a:srgbClr val="FBEFE6"/>
          </a:solidFill>
          <a:ln/>
        </p:spPr>
      </p:sp>
      <p:sp>
        <p:nvSpPr>
          <p:cNvPr id="14" name="Text 12"/>
          <p:cNvSpPr txBox="1"/>
          <p:nvPr/>
        </p:nvSpPr>
        <p:spPr>
          <a:xfrm>
            <a:off x="4572000" y="1572768"/>
            <a:ext cx="3017520" cy="274320"/>
          </a:xfrm>
          <a:prstGeom prst="rect">
            <a:avLst/>
          </a:prstGeom>
          <a:noFill/>
          <a:ln/>
        </p:spPr>
        <p:txBody>
          <a:bodyPr wrap="square" lIns="0" tIns="0" rIns="0" bIns="0" rtlCol="0" anchor="ctr"/>
          <a:lstStyle/>
          <a:p>
            <a:pPr marL="0" indent="0">
              <a:buNone/>
            </a:pPr>
            <a:r>
              <a:rPr lang="en-US" b="1" dirty="0">
                <a:solidFill>
                  <a:srgbClr val="C2571A"/>
                </a:solidFill>
                <a:latin typeface="Cambria" panose="02040503050406030204" pitchFamily="18" charset="0"/>
                <a:ea typeface="Cambria" panose="02040503050406030204" pitchFamily="18" charset="0"/>
                <a:cs typeface="Calibri" pitchFamily="34" charset="-120"/>
              </a:rPr>
              <a:t>Residual risk, stated plainly</a:t>
            </a:r>
            <a:endParaRPr lang="en-US" dirty="0">
              <a:latin typeface="Cambria" panose="02040503050406030204" pitchFamily="18" charset="0"/>
              <a:ea typeface="Cambria" panose="02040503050406030204" pitchFamily="18" charset="0"/>
            </a:endParaRPr>
          </a:p>
        </p:txBody>
      </p:sp>
      <p:sp>
        <p:nvSpPr>
          <p:cNvPr id="15" name="Text 13"/>
          <p:cNvSpPr txBox="1"/>
          <p:nvPr/>
        </p:nvSpPr>
        <p:spPr>
          <a:xfrm>
            <a:off x="4572000" y="1920240"/>
            <a:ext cx="3108960" cy="822960"/>
          </a:xfrm>
          <a:prstGeom prst="rect">
            <a:avLst/>
          </a:prstGeom>
          <a:noFill/>
          <a:ln/>
        </p:spPr>
        <p:txBody>
          <a:bodyPr wrap="square" lIns="0" tIns="0" rIns="0" bIns="0" rtlCol="0" anchor="ct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A customer who fixes a fabricated nameplate to a neighbour's door will pass. Consumer GPS cannot separate flat 402 from 302, and no design can claim otherwise.</a:t>
            </a:r>
            <a:endParaRPr lang="en-US" sz="1200" dirty="0">
              <a:latin typeface="Cambria" panose="02040503050406030204" pitchFamily="18" charset="0"/>
              <a:ea typeface="Cambria" panose="02040503050406030204" pitchFamily="18" charset="0"/>
            </a:endParaRPr>
          </a:p>
        </p:txBody>
      </p:sp>
      <p:sp>
        <p:nvSpPr>
          <p:cNvPr id="16" name="Text 14"/>
          <p:cNvSpPr txBox="1"/>
          <p:nvPr/>
        </p:nvSpPr>
        <p:spPr>
          <a:xfrm>
            <a:off x="4572000" y="2948940"/>
            <a:ext cx="3108960" cy="1051560"/>
          </a:xfrm>
          <a:prstGeom prst="rect">
            <a:avLst/>
          </a:prstGeom>
          <a:noFill/>
          <a:ln/>
        </p:spPr>
        <p:txBody>
          <a:bodyPr wrap="square" lIns="0" tIns="0" rIns="0" bIns="0" rtlCol="0" anchor="t"/>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But collections still finds them: right building, right locality. That is a data quality defect, not a loss. In a chawl we do not loosen the threshold, we reduce what the coordinate is worth, and let the door number and portfolio hashing carry the score.</a:t>
            </a:r>
            <a:endParaRPr lang="en-US" sz="1200" dirty="0">
              <a:latin typeface="Cambria" panose="02040503050406030204" pitchFamily="18" charset="0"/>
              <a:ea typeface="Cambria" panose="02040503050406030204" pitchFamily="18" charset="0"/>
            </a:endParaRPr>
          </a:p>
        </p:txBody>
      </p:sp>
      <p:sp>
        <p:nvSpPr>
          <p:cNvPr id="17" name="Text 15"/>
          <p:cNvSpPr txBox="1"/>
          <p:nvPr/>
        </p:nvSpPr>
        <p:spPr>
          <a:xfrm>
            <a:off x="4572000" y="4759960"/>
            <a:ext cx="3108960" cy="821944"/>
          </a:xfrm>
          <a:prstGeom prst="rect">
            <a:avLst/>
          </a:prstGeom>
          <a:noFill/>
          <a:ln/>
        </p:spPr>
        <p:txBody>
          <a:bodyPr wrap="square" lIns="0" tIns="0" rIns="0" bIns="0" rtlCol="0" anchor="t"/>
          <a:lstStyle/>
          <a:p>
            <a:pPr marL="0" indent="0">
              <a:buNone/>
            </a:pPr>
            <a:r>
              <a:rPr lang="en-US" sz="1200" i="1" dirty="0">
                <a:solidFill>
                  <a:srgbClr val="1C2B31"/>
                </a:solidFill>
                <a:latin typeface="Cambria" panose="02040503050406030204" pitchFamily="18" charset="0"/>
                <a:ea typeface="Cambria" panose="02040503050406030204" pitchFamily="18" charset="0"/>
                <a:cs typeface="Calibri" pitchFamily="34" charset="-120"/>
              </a:rPr>
              <a:t>The real defence is cost. Today fraud is a forged text overlay made in thirty seconds. After this it means travelling to a real address and staging a scene.</a:t>
            </a:r>
            <a:endParaRPr lang="en-US" sz="1200" i="1" dirty="0">
              <a:latin typeface="Cambria" panose="02040503050406030204" pitchFamily="18" charset="0"/>
              <a:ea typeface="Cambria" panose="02040503050406030204" pitchFamily="18" charset="0"/>
            </a:endParaRPr>
          </a:p>
        </p:txBody>
      </p:sp>
      <p:sp>
        <p:nvSpPr>
          <p:cNvPr id="18" name="Shape 16"/>
          <p:cNvSpPr/>
          <p:nvPr/>
        </p:nvSpPr>
        <p:spPr>
          <a:xfrm>
            <a:off x="8101584" y="1371600"/>
            <a:ext cx="3520440" cy="4348480"/>
          </a:xfrm>
          <a:prstGeom prst="roundRect">
            <a:avLst>
              <a:gd name="adj" fmla="val 2078"/>
            </a:avLst>
          </a:prstGeom>
          <a:solidFill>
            <a:srgbClr val="10333F"/>
          </a:solidFill>
          <a:ln/>
        </p:spPr>
      </p:sp>
      <p:sp>
        <p:nvSpPr>
          <p:cNvPr id="19" name="Text 17"/>
          <p:cNvSpPr txBox="1"/>
          <p:nvPr/>
        </p:nvSpPr>
        <p:spPr>
          <a:xfrm>
            <a:off x="8339328" y="1572768"/>
            <a:ext cx="3017520" cy="274320"/>
          </a:xfrm>
          <a:prstGeom prst="rect">
            <a:avLst/>
          </a:prstGeom>
          <a:noFill/>
          <a:ln/>
        </p:spPr>
        <p:txBody>
          <a:bodyPr wrap="square" lIns="0" tIns="0" rIns="0" bIns="0" rtlCol="0" anchor="ctr"/>
          <a:lstStyle/>
          <a:p>
            <a:pPr marL="0" indent="0">
              <a:buNone/>
            </a:pPr>
            <a:r>
              <a:rPr lang="en-US" b="1" dirty="0">
                <a:solidFill>
                  <a:srgbClr val="FFFFFF"/>
                </a:solidFill>
                <a:latin typeface="Cambria" panose="02040503050406030204" pitchFamily="18" charset="0"/>
                <a:ea typeface="Cambria" panose="02040503050406030204" pitchFamily="18" charset="0"/>
                <a:cs typeface="Calibri" pitchFamily="34" charset="-120"/>
              </a:rPr>
              <a:t>Four trade-offs we chose</a:t>
            </a:r>
            <a:endParaRPr lang="en-US" dirty="0">
              <a:latin typeface="Cambria" panose="02040503050406030204" pitchFamily="18" charset="0"/>
              <a:ea typeface="Cambria" panose="02040503050406030204" pitchFamily="18" charset="0"/>
            </a:endParaRPr>
          </a:p>
        </p:txBody>
      </p:sp>
      <p:sp>
        <p:nvSpPr>
          <p:cNvPr id="20" name="Text 18"/>
          <p:cNvSpPr txBox="1"/>
          <p:nvPr/>
        </p:nvSpPr>
        <p:spPr>
          <a:xfrm>
            <a:off x="8298688" y="2119376"/>
            <a:ext cx="3017520" cy="256032"/>
          </a:xfrm>
          <a:prstGeom prst="rect">
            <a:avLst/>
          </a:prstGeom>
          <a:noFill/>
          <a:ln/>
        </p:spPr>
        <p:txBody>
          <a:bodyPr wrap="square" lIns="0" tIns="0" rIns="0" bIns="0"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Attestation scores, never gates</a:t>
            </a:r>
            <a:endParaRPr lang="en-US" sz="1600" dirty="0">
              <a:latin typeface="Cambria" panose="02040503050406030204" pitchFamily="18" charset="0"/>
              <a:ea typeface="Cambria" panose="02040503050406030204" pitchFamily="18" charset="0"/>
            </a:endParaRPr>
          </a:p>
        </p:txBody>
      </p:sp>
      <p:sp>
        <p:nvSpPr>
          <p:cNvPr id="21" name="Text 19"/>
          <p:cNvSpPr txBox="1"/>
          <p:nvPr/>
        </p:nvSpPr>
        <p:spPr>
          <a:xfrm>
            <a:off x="8298688" y="2274824"/>
            <a:ext cx="3017520" cy="512064"/>
          </a:xfrm>
          <a:prstGeom prst="rect">
            <a:avLst/>
          </a:prstGeom>
          <a:noFill/>
          <a:ln/>
        </p:spPr>
        <p:txBody>
          <a:bodyPr wrap="square" lIns="0" tIns="0" rIns="0" bIns="0" rtlCol="0" anchor="ctr"/>
          <a:lstStyle/>
          <a:p>
            <a:pPr marL="0" indent="0">
              <a:buNone/>
            </a:pPr>
            <a:r>
              <a:rPr lang="en-US" sz="1100" dirty="0">
                <a:solidFill>
                  <a:srgbClr val="9FBFC4"/>
                </a:solidFill>
                <a:latin typeface="Cambria" panose="02040503050406030204" pitchFamily="18" charset="0"/>
                <a:ea typeface="Cambria" panose="02040503050406030204" pitchFamily="18" charset="0"/>
                <a:cs typeface="Calibri" pitchFamily="34" charset="-120"/>
              </a:rPr>
              <a:t>Gating on device integrity excludes poor people, not fraudsters</a:t>
            </a:r>
            <a:endParaRPr lang="en-US" sz="1100" dirty="0">
              <a:latin typeface="Cambria" panose="02040503050406030204" pitchFamily="18" charset="0"/>
              <a:ea typeface="Cambria" panose="02040503050406030204" pitchFamily="18" charset="0"/>
            </a:endParaRPr>
          </a:p>
        </p:txBody>
      </p:sp>
      <p:sp>
        <p:nvSpPr>
          <p:cNvPr id="22" name="Text 20"/>
          <p:cNvSpPr txBox="1"/>
          <p:nvPr/>
        </p:nvSpPr>
        <p:spPr>
          <a:xfrm>
            <a:off x="8298688" y="2884424"/>
            <a:ext cx="3017520" cy="256032"/>
          </a:xfrm>
          <a:prstGeom prst="rect">
            <a:avLst/>
          </a:prstGeom>
          <a:noFill/>
          <a:ln/>
        </p:spPr>
        <p:txBody>
          <a:bodyPr wrap="square" lIns="0" tIns="0" rIns="0" bIns="0"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Exterior only, no interiors</a:t>
            </a:r>
            <a:endParaRPr lang="en-US" sz="1600" dirty="0">
              <a:latin typeface="Cambria" panose="02040503050406030204" pitchFamily="18" charset="0"/>
              <a:ea typeface="Cambria" panose="02040503050406030204" pitchFamily="18" charset="0"/>
            </a:endParaRPr>
          </a:p>
        </p:txBody>
      </p:sp>
      <p:sp>
        <p:nvSpPr>
          <p:cNvPr id="23" name="Text 21"/>
          <p:cNvSpPr txBox="1"/>
          <p:nvPr/>
        </p:nvSpPr>
        <p:spPr>
          <a:xfrm>
            <a:off x="8298688" y="3100832"/>
            <a:ext cx="3017520" cy="512064"/>
          </a:xfrm>
          <a:prstGeom prst="rect">
            <a:avLst/>
          </a:prstGeom>
          <a:noFill/>
          <a:ln/>
        </p:spPr>
        <p:txBody>
          <a:bodyPr wrap="square" lIns="0" tIns="0" rIns="0" bIns="0" rtlCol="0" anchor="ctr"/>
          <a:lstStyle/>
          <a:p>
            <a:pPr marL="0" indent="0">
              <a:buNone/>
            </a:pPr>
            <a:r>
              <a:rPr lang="en-US" sz="1100" dirty="0">
                <a:solidFill>
                  <a:srgbClr val="9FBFC4"/>
                </a:solidFill>
                <a:latin typeface="Cambria" panose="02040503050406030204" pitchFamily="18" charset="0"/>
                <a:ea typeface="Cambria" panose="02040503050406030204" pitchFamily="18" charset="0"/>
                <a:cs typeface="Calibri" pitchFamily="34" charset="-120"/>
              </a:rPr>
              <a:t>The brief asks for living standard assessment. Its own privacy objective forbids it</a:t>
            </a:r>
            <a:endParaRPr lang="en-US" sz="1100" dirty="0">
              <a:latin typeface="Cambria" panose="02040503050406030204" pitchFamily="18" charset="0"/>
              <a:ea typeface="Cambria" panose="02040503050406030204" pitchFamily="18" charset="0"/>
            </a:endParaRPr>
          </a:p>
        </p:txBody>
      </p:sp>
      <p:sp>
        <p:nvSpPr>
          <p:cNvPr id="24" name="Text 22"/>
          <p:cNvSpPr txBox="1"/>
          <p:nvPr/>
        </p:nvSpPr>
        <p:spPr>
          <a:xfrm>
            <a:off x="8298688" y="3812032"/>
            <a:ext cx="3017520" cy="256032"/>
          </a:xfrm>
          <a:prstGeom prst="rect">
            <a:avLst/>
          </a:prstGeom>
          <a:noFill/>
          <a:ln/>
        </p:spPr>
        <p:txBody>
          <a:bodyPr wrap="square" lIns="0" tIns="0" rIns="0" bIns="0"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Video &amp; photos, from one action</a:t>
            </a:r>
            <a:endParaRPr lang="en-US" sz="1600" dirty="0">
              <a:latin typeface="Cambria" panose="02040503050406030204" pitchFamily="18" charset="0"/>
              <a:ea typeface="Cambria" panose="02040503050406030204" pitchFamily="18" charset="0"/>
            </a:endParaRPr>
          </a:p>
        </p:txBody>
      </p:sp>
      <p:sp>
        <p:nvSpPr>
          <p:cNvPr id="25" name="Text 23"/>
          <p:cNvSpPr txBox="1"/>
          <p:nvPr/>
        </p:nvSpPr>
        <p:spPr>
          <a:xfrm>
            <a:off x="8298688" y="4089400"/>
            <a:ext cx="3017520" cy="512064"/>
          </a:xfrm>
          <a:prstGeom prst="rect">
            <a:avLst/>
          </a:prstGeom>
          <a:noFill/>
          <a:ln/>
        </p:spPr>
        <p:txBody>
          <a:bodyPr wrap="square" lIns="0" tIns="0" rIns="0" bIns="0" rtlCol="0" anchor="ctr"/>
          <a:lstStyle/>
          <a:p>
            <a:pPr marL="0" indent="0">
              <a:buNone/>
            </a:pPr>
            <a:r>
              <a:rPr lang="en-US" sz="1100" dirty="0">
                <a:solidFill>
                  <a:srgbClr val="9FBFC4"/>
                </a:solidFill>
                <a:latin typeface="Cambria" panose="02040503050406030204" pitchFamily="18" charset="0"/>
                <a:ea typeface="Cambria" panose="02040503050406030204" pitchFamily="18" charset="0"/>
                <a:cs typeface="Calibri" pitchFamily="34" charset="-120"/>
              </a:rPr>
              <a:t>The pan proves context and continuity; the full-size stills are what OCR and face match actually run on</a:t>
            </a:r>
            <a:endParaRPr lang="en-US" sz="1100" dirty="0">
              <a:latin typeface="Cambria" panose="02040503050406030204" pitchFamily="18" charset="0"/>
              <a:ea typeface="Cambria" panose="02040503050406030204" pitchFamily="18" charset="0"/>
            </a:endParaRPr>
          </a:p>
        </p:txBody>
      </p:sp>
      <p:sp>
        <p:nvSpPr>
          <p:cNvPr id="26" name="Text 24"/>
          <p:cNvSpPr txBox="1"/>
          <p:nvPr/>
        </p:nvSpPr>
        <p:spPr>
          <a:xfrm>
            <a:off x="8278368" y="4822043"/>
            <a:ext cx="3282696" cy="256032"/>
          </a:xfrm>
          <a:prstGeom prst="rect">
            <a:avLst/>
          </a:prstGeom>
          <a:noFill/>
          <a:ln/>
        </p:spPr>
        <p:txBody>
          <a:bodyPr wrap="square" lIns="0" tIns="0" rIns="0" bIns="0"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Score &amp; reason codes, not a verdict</a:t>
            </a:r>
            <a:endParaRPr lang="en-US" sz="1600" dirty="0">
              <a:latin typeface="Cambria" panose="02040503050406030204" pitchFamily="18" charset="0"/>
              <a:ea typeface="Cambria" panose="02040503050406030204" pitchFamily="18" charset="0"/>
            </a:endParaRPr>
          </a:p>
        </p:txBody>
      </p:sp>
      <p:sp>
        <p:nvSpPr>
          <p:cNvPr id="27" name="Text 25"/>
          <p:cNvSpPr txBox="1"/>
          <p:nvPr/>
        </p:nvSpPr>
        <p:spPr>
          <a:xfrm>
            <a:off x="8303768" y="5018131"/>
            <a:ext cx="3017520" cy="512064"/>
          </a:xfrm>
          <a:prstGeom prst="rect">
            <a:avLst/>
          </a:prstGeom>
          <a:noFill/>
          <a:ln/>
        </p:spPr>
        <p:txBody>
          <a:bodyPr wrap="square" lIns="0" tIns="0" rIns="0" bIns="0" rtlCol="0" anchor="ctr"/>
          <a:lstStyle/>
          <a:p>
            <a:pPr marL="0" indent="0">
              <a:buNone/>
            </a:pPr>
            <a:r>
              <a:rPr lang="en-US" sz="1100" dirty="0">
                <a:solidFill>
                  <a:srgbClr val="9FBFC4"/>
                </a:solidFill>
                <a:latin typeface="Cambria" panose="02040503050406030204" pitchFamily="18" charset="0"/>
                <a:ea typeface="Cambria" panose="02040503050406030204" pitchFamily="18" charset="0"/>
                <a:cs typeface="Calibri" pitchFamily="34" charset="-120"/>
              </a:rPr>
              <a:t>Credit policy sets the bar by exposure. Verification does not decide the loan</a:t>
            </a:r>
            <a:endParaRPr lang="en-US" sz="1100" dirty="0">
              <a:latin typeface="Cambria" panose="02040503050406030204" pitchFamily="18" charset="0"/>
              <a:ea typeface="Cambria" panose="02040503050406030204" pitchFamily="18" charset="0"/>
            </a:endParaRPr>
          </a:p>
        </p:txBody>
      </p:sp>
      <p:sp>
        <p:nvSpPr>
          <p:cNvPr id="28" name="Text 26"/>
          <p:cNvSpPr txBox="1"/>
          <p:nvPr/>
        </p:nvSpPr>
        <p:spPr>
          <a:xfrm>
            <a:off x="566928" y="5852160"/>
            <a:ext cx="11057839" cy="757936"/>
          </a:xfrm>
          <a:prstGeom prst="rect">
            <a:avLst/>
          </a:prstGeom>
          <a:noFill/>
          <a:ln/>
        </p:spPr>
        <p:txBody>
          <a:bodyPr wrap="square" lIns="0" tIns="0" rIns="0" bIns="0" rtlCol="0" anchor="ctr"/>
          <a:lstStyle/>
          <a:p>
            <a:pPr marL="0" indent="0">
              <a:buNone/>
            </a:pPr>
            <a:r>
              <a:rPr lang="en-US" sz="1600" i="1" dirty="0">
                <a:solidFill>
                  <a:srgbClr val="5A6B70"/>
                </a:solidFill>
                <a:latin typeface="Cambria" panose="02040503050406030204" pitchFamily="18" charset="0"/>
                <a:ea typeface="Cambria" panose="02040503050406030204" pitchFamily="18" charset="0"/>
                <a:cs typeface="Calibri" pitchFamily="34" charset="-120"/>
              </a:rPr>
              <a:t>Regulatory envelope: RBI's Digital Lending Directions 2025 allow one-time camera and location access for onboarding, with explicit consent, and bar gallery access entirely which removes the stale photo attack by construction. DPDP substantive compliance lands May 2027.</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Measure the thing that is actually hard, then scale</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Completion alone can be gamed. First-time-right cannot.</a:t>
            </a:r>
            <a:endParaRPr lang="en-US" sz="1400" dirty="0">
              <a:latin typeface="Cambria" panose="02040503050406030204" pitchFamily="18" charset="0"/>
              <a:ea typeface="Cambria" panose="02040503050406030204" pitchFamily="18" charset="0"/>
            </a:endParaRPr>
          </a:p>
        </p:txBody>
      </p:sp>
      <p:sp>
        <p:nvSpPr>
          <p:cNvPr id="4" name="Shape 2"/>
          <p:cNvSpPr/>
          <p:nvPr/>
        </p:nvSpPr>
        <p:spPr>
          <a:xfrm>
            <a:off x="566928" y="1335024"/>
            <a:ext cx="11057839" cy="841248"/>
          </a:xfrm>
          <a:prstGeom prst="roundRect">
            <a:avLst>
              <a:gd name="adj" fmla="val 8696"/>
            </a:avLst>
          </a:prstGeom>
          <a:solidFill>
            <a:srgbClr val="E4EEEC"/>
          </a:solidFill>
          <a:ln/>
        </p:spPr>
      </p:sp>
      <p:sp>
        <p:nvSpPr>
          <p:cNvPr id="5" name="Text 3"/>
          <p:cNvSpPr txBox="1"/>
          <p:nvPr/>
        </p:nvSpPr>
        <p:spPr>
          <a:xfrm>
            <a:off x="841248" y="1444752"/>
            <a:ext cx="4206240" cy="310896"/>
          </a:xfrm>
          <a:prstGeom prst="rect">
            <a:avLst/>
          </a:prstGeom>
          <a:noFill/>
          <a:ln/>
        </p:spPr>
        <p:txBody>
          <a:bodyPr wrap="square" lIns="0" tIns="0" rIns="0" bIns="0" rtlCol="0" anchor="ctr"/>
          <a:lstStyle/>
          <a:p>
            <a:pPr marL="0" indent="0">
              <a:buNone/>
            </a:pPr>
            <a:r>
              <a:rPr lang="en-US" sz="1600" b="1" dirty="0">
                <a:solidFill>
                  <a:srgbClr val="10333F"/>
                </a:solidFill>
                <a:latin typeface="Cambria" panose="02040503050406030204" pitchFamily="18" charset="0"/>
                <a:ea typeface="Cambria" panose="02040503050406030204" pitchFamily="18" charset="0"/>
                <a:cs typeface="Cambria" pitchFamily="34" charset="-120"/>
              </a:rPr>
              <a:t>North star:  first-time-right rate</a:t>
            </a:r>
            <a:endParaRPr lang="en-US" sz="1600" dirty="0">
              <a:latin typeface="Cambria" panose="02040503050406030204" pitchFamily="18" charset="0"/>
              <a:ea typeface="Cambria" panose="02040503050406030204" pitchFamily="18" charset="0"/>
            </a:endParaRPr>
          </a:p>
        </p:txBody>
      </p:sp>
      <p:sp>
        <p:nvSpPr>
          <p:cNvPr id="6" name="Text 4"/>
          <p:cNvSpPr txBox="1"/>
          <p:nvPr/>
        </p:nvSpPr>
        <p:spPr>
          <a:xfrm>
            <a:off x="5230368" y="1452880"/>
            <a:ext cx="6309360" cy="566928"/>
          </a:xfrm>
          <a:prstGeom prst="rect">
            <a:avLst/>
          </a:prstGeom>
          <a:noFill/>
          <a:ln/>
        </p:spPr>
        <p:txBody>
          <a:bodyPr wrap="square" lIns="0" tIns="0" rIns="0" bIns="0" rtlCol="0" anchor="ctr"/>
          <a:lstStyle/>
          <a:p>
            <a:pPr marL="0" indent="0">
              <a:buNone/>
            </a:pPr>
            <a:r>
              <a:rPr lang="en-US" sz="1400" dirty="0">
                <a:solidFill>
                  <a:srgbClr val="1C2B31"/>
                </a:solidFill>
                <a:latin typeface="Cambria" panose="02040503050406030204" pitchFamily="18" charset="0"/>
                <a:ea typeface="Cambria" panose="02040503050406030204" pitchFamily="18" charset="0"/>
                <a:cs typeface="Calibri" pitchFamily="34" charset="-120"/>
              </a:rPr>
              <a:t>Requests reaching an auto-accepted decision on the first submission, with zero human touch. It only moves when completion, evidence quality and operating cost improve together.</a:t>
            </a:r>
            <a:endParaRPr lang="en-US" sz="1400" dirty="0">
              <a:latin typeface="Cambria" panose="02040503050406030204" pitchFamily="18" charset="0"/>
              <a:ea typeface="Cambria" panose="02040503050406030204" pitchFamily="18" charset="0"/>
            </a:endParaRPr>
          </a:p>
        </p:txBody>
      </p:sp>
      <p:sp>
        <p:nvSpPr>
          <p:cNvPr id="7" name="Shape 5"/>
          <p:cNvSpPr/>
          <p:nvPr/>
        </p:nvSpPr>
        <p:spPr>
          <a:xfrm>
            <a:off x="566928" y="2359152"/>
            <a:ext cx="3538728" cy="3267456"/>
          </a:xfrm>
          <a:prstGeom prst="roundRect">
            <a:avLst>
              <a:gd name="adj" fmla="val 2410"/>
            </a:avLst>
          </a:prstGeom>
          <a:solidFill>
            <a:srgbClr val="FFFFFF"/>
          </a:solidFill>
          <a:ln w="9525">
            <a:solidFill>
              <a:srgbClr val="D6DFE1"/>
            </a:solidFill>
            <a:prstDash val="solid"/>
          </a:ln>
        </p:spPr>
      </p:sp>
      <p:sp>
        <p:nvSpPr>
          <p:cNvPr id="9" name="Text 7"/>
          <p:cNvSpPr txBox="1"/>
          <p:nvPr/>
        </p:nvSpPr>
        <p:spPr>
          <a:xfrm>
            <a:off x="1042416" y="2542032"/>
            <a:ext cx="2834640" cy="292608"/>
          </a:xfrm>
          <a:prstGeom prst="rect">
            <a:avLst/>
          </a:prstGeom>
          <a:noFill/>
          <a:ln/>
        </p:spPr>
        <p:txBody>
          <a:bodyPr wrap="square" lIns="0" tIns="0" rIns="0" bIns="0" rtlCol="0" anchor="ctr"/>
          <a:lstStyle/>
          <a:p>
            <a:pPr marL="0" indent="0">
              <a:buNone/>
            </a:pPr>
            <a:r>
              <a:rPr lang="en-US" sz="1600" b="1" dirty="0">
                <a:solidFill>
                  <a:srgbClr val="2E7D74"/>
                </a:solidFill>
                <a:latin typeface="Cambria" panose="02040503050406030204" pitchFamily="18" charset="0"/>
                <a:ea typeface="Cambria" panose="02040503050406030204" pitchFamily="18" charset="0"/>
                <a:cs typeface="Calibri" pitchFamily="34" charset="-120"/>
              </a:rPr>
              <a:t>Metrics that matter</a:t>
            </a:r>
            <a:endParaRPr lang="en-US" sz="1600" dirty="0">
              <a:latin typeface="Cambria" panose="02040503050406030204" pitchFamily="18" charset="0"/>
              <a:ea typeface="Cambria" panose="02040503050406030204" pitchFamily="18" charset="0"/>
            </a:endParaRPr>
          </a:p>
        </p:txBody>
      </p:sp>
      <p:sp>
        <p:nvSpPr>
          <p:cNvPr id="10" name="Text 8"/>
          <p:cNvSpPr txBox="1"/>
          <p:nvPr/>
        </p:nvSpPr>
        <p:spPr>
          <a:xfrm>
            <a:off x="822960" y="3204464"/>
            <a:ext cx="3072384" cy="1922272"/>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Zero-touch rate: the direct answer to no manual verification</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Completion gap across district, language and device tier our fairness tripwire</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Pre-flight pass, upload success, degraded-mode share</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Lagging truth: address hit-rate at first collections contact, 90+ DPD</a:t>
            </a:r>
            <a:endParaRPr lang="en-US" sz="1200" dirty="0">
              <a:latin typeface="Cambria" panose="02040503050406030204" pitchFamily="18" charset="0"/>
              <a:ea typeface="Cambria" panose="02040503050406030204" pitchFamily="18" charset="0"/>
            </a:endParaRPr>
          </a:p>
        </p:txBody>
      </p:sp>
      <p:sp>
        <p:nvSpPr>
          <p:cNvPr id="11" name="Shape 9"/>
          <p:cNvSpPr/>
          <p:nvPr/>
        </p:nvSpPr>
        <p:spPr>
          <a:xfrm>
            <a:off x="4334256" y="2359152"/>
            <a:ext cx="3538728" cy="3267456"/>
          </a:xfrm>
          <a:prstGeom prst="roundRect">
            <a:avLst>
              <a:gd name="adj" fmla="val 2410"/>
            </a:avLst>
          </a:prstGeom>
          <a:solidFill>
            <a:srgbClr val="FFFFFF"/>
          </a:solidFill>
          <a:ln w="9525">
            <a:solidFill>
              <a:srgbClr val="D6DFE1"/>
            </a:solidFill>
            <a:prstDash val="solid"/>
          </a:ln>
        </p:spPr>
      </p:sp>
      <p:sp>
        <p:nvSpPr>
          <p:cNvPr id="13" name="Text 11"/>
          <p:cNvSpPr txBox="1"/>
          <p:nvPr/>
        </p:nvSpPr>
        <p:spPr>
          <a:xfrm>
            <a:off x="4809744" y="2542032"/>
            <a:ext cx="2834640" cy="292608"/>
          </a:xfrm>
          <a:prstGeom prst="rect">
            <a:avLst/>
          </a:prstGeom>
          <a:noFill/>
          <a:ln/>
        </p:spPr>
        <p:txBody>
          <a:bodyPr wrap="square" lIns="0" tIns="0" rIns="0" bIns="0" rtlCol="0" anchor="ctr"/>
          <a:lstStyle/>
          <a:p>
            <a:pPr marL="0" indent="0">
              <a:buNone/>
            </a:pPr>
            <a:r>
              <a:rPr lang="en-US" sz="1600" b="1" dirty="0">
                <a:solidFill>
                  <a:srgbClr val="10333F"/>
                </a:solidFill>
                <a:latin typeface="Cambria" panose="02040503050406030204" pitchFamily="18" charset="0"/>
                <a:ea typeface="Cambria" panose="02040503050406030204" pitchFamily="18" charset="0"/>
                <a:cs typeface="Calibri" pitchFamily="34" charset="-120"/>
              </a:rPr>
              <a:t>MVP scope</a:t>
            </a:r>
            <a:endParaRPr lang="en-US" sz="1600" dirty="0">
              <a:latin typeface="Cambria" panose="02040503050406030204" pitchFamily="18" charset="0"/>
              <a:ea typeface="Cambria" panose="02040503050406030204" pitchFamily="18" charset="0"/>
            </a:endParaRPr>
          </a:p>
        </p:txBody>
      </p:sp>
      <p:sp>
        <p:nvSpPr>
          <p:cNvPr id="14" name="Text 12"/>
          <p:cNvSpPr txBox="1"/>
          <p:nvPr/>
        </p:nvSpPr>
        <p:spPr>
          <a:xfrm>
            <a:off x="4470400" y="2907792"/>
            <a:ext cx="3192272" cy="23774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In link delivered by SMS and email; browser-first with app escalation only at high exposure; residential and business; five persona branches; audio guidance; DIGIPIN pin; guided video with full-size stills; degraded mode; on-device checks; assisted and field rails</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Out of v1: second capture weeks later, nameplate forensics, risk-tiered capture depth, and asset verification - interiors, machinery, stock which is a separate purpose needing its own consent and a human in the loop</a:t>
            </a:r>
            <a:endParaRPr lang="en-US" sz="1200" dirty="0">
              <a:latin typeface="Cambria" panose="02040503050406030204" pitchFamily="18" charset="0"/>
              <a:ea typeface="Cambria" panose="02040503050406030204" pitchFamily="18" charset="0"/>
            </a:endParaRPr>
          </a:p>
        </p:txBody>
      </p:sp>
      <p:sp>
        <p:nvSpPr>
          <p:cNvPr id="15" name="Shape 13"/>
          <p:cNvSpPr/>
          <p:nvPr/>
        </p:nvSpPr>
        <p:spPr>
          <a:xfrm>
            <a:off x="8101584" y="2359152"/>
            <a:ext cx="3538728" cy="3267456"/>
          </a:xfrm>
          <a:prstGeom prst="roundRect">
            <a:avLst>
              <a:gd name="adj" fmla="val 2410"/>
            </a:avLst>
          </a:prstGeom>
          <a:solidFill>
            <a:srgbClr val="FFFFFF"/>
          </a:solidFill>
          <a:ln w="9525">
            <a:solidFill>
              <a:srgbClr val="D6DFE1"/>
            </a:solidFill>
            <a:prstDash val="solid"/>
          </a:ln>
        </p:spPr>
      </p:sp>
      <p:sp>
        <p:nvSpPr>
          <p:cNvPr id="17" name="Text 15"/>
          <p:cNvSpPr txBox="1"/>
          <p:nvPr/>
        </p:nvSpPr>
        <p:spPr>
          <a:xfrm>
            <a:off x="8577072" y="2542032"/>
            <a:ext cx="2834640" cy="292608"/>
          </a:xfrm>
          <a:prstGeom prst="rect">
            <a:avLst/>
          </a:prstGeom>
          <a:noFill/>
          <a:ln/>
        </p:spPr>
        <p:txBody>
          <a:bodyPr wrap="square" lIns="0" tIns="0" rIns="0" bIns="0" rtlCol="0" anchor="ctr"/>
          <a:lstStyle/>
          <a:p>
            <a:pPr marL="0" indent="0">
              <a:buNone/>
            </a:pPr>
            <a:r>
              <a:rPr lang="en-US" sz="1600" b="1" dirty="0">
                <a:solidFill>
                  <a:srgbClr val="C2571A"/>
                </a:solidFill>
                <a:latin typeface="Cambria" panose="02040503050406030204" pitchFamily="18" charset="0"/>
                <a:ea typeface="Cambria" panose="02040503050406030204" pitchFamily="18" charset="0"/>
                <a:cs typeface="Calibri" pitchFamily="34" charset="-120"/>
              </a:rPr>
              <a:t>Rollout and experiments</a:t>
            </a:r>
            <a:endParaRPr lang="en-US" sz="1600" dirty="0">
              <a:latin typeface="Cambria" panose="02040503050406030204" pitchFamily="18" charset="0"/>
              <a:ea typeface="Cambria" panose="02040503050406030204" pitchFamily="18" charset="0"/>
            </a:endParaRPr>
          </a:p>
        </p:txBody>
      </p:sp>
      <p:sp>
        <p:nvSpPr>
          <p:cNvPr id="18" name="Text 16"/>
          <p:cNvSpPr txBox="1"/>
          <p:nvPr/>
        </p:nvSpPr>
        <p:spPr>
          <a:xfrm>
            <a:off x="8212667" y="2907792"/>
            <a:ext cx="3217333" cy="261518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Phase 0 shadow mode adjudicate alongside human review, act on nothing. Non-negotiable and first</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Phase 1 five percent, one geography, human backstop retained</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Phase 2 auto-decide the high-confidence band only</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Phase 3 widen bands. Audit sampling of auto-approvals never stops</a:t>
            </a:r>
            <a:endParaRPr lang="en-US" sz="1200" dirty="0">
              <a:latin typeface="Cambria" panose="02040503050406030204" pitchFamily="18" charset="0"/>
              <a:ea typeface="Cambria" panose="02040503050406030204" pitchFamily="18" charset="0"/>
            </a:endParaRPr>
          </a:p>
          <a:p>
            <a:pPr marL="342900" indent="-342900">
              <a:spcAft>
                <a:spcPts val="700"/>
              </a:spcAft>
              <a:buSzPct val="100000"/>
              <a:buChar char="•"/>
            </a:pPr>
            <a:r>
              <a:rPr lang="en-US" sz="1200" dirty="0">
                <a:solidFill>
                  <a:srgbClr val="1C2B31"/>
                </a:solidFill>
                <a:latin typeface="Cambria" panose="02040503050406030204" pitchFamily="18" charset="0"/>
                <a:ea typeface="Cambria" panose="02040503050406030204" pitchFamily="18" charset="0"/>
                <a:cs typeface="Calibri" pitchFamily="34" charset="-120"/>
              </a:rPr>
              <a:t>Red team the nameplate, injection and mock location attacks before launch and quarterly after</a:t>
            </a:r>
            <a:endParaRPr lang="en-US" sz="1200" dirty="0">
              <a:latin typeface="Cambria" panose="02040503050406030204" pitchFamily="18" charset="0"/>
              <a:ea typeface="Cambria" panose="02040503050406030204" pitchFamily="18" charset="0"/>
            </a:endParaRPr>
          </a:p>
        </p:txBody>
      </p:sp>
      <p:sp>
        <p:nvSpPr>
          <p:cNvPr id="19" name="Shape 17"/>
          <p:cNvSpPr/>
          <p:nvPr/>
        </p:nvSpPr>
        <p:spPr>
          <a:xfrm>
            <a:off x="574700" y="5762752"/>
            <a:ext cx="11057839" cy="979424"/>
          </a:xfrm>
          <a:prstGeom prst="roundRect">
            <a:avLst>
              <a:gd name="adj" fmla="val 9302"/>
            </a:avLst>
          </a:prstGeom>
          <a:solidFill>
            <a:srgbClr val="EDF1F1"/>
          </a:solidFill>
          <a:ln/>
        </p:spPr>
      </p:sp>
      <p:sp>
        <p:nvSpPr>
          <p:cNvPr id="20" name="Text 18"/>
          <p:cNvSpPr txBox="1"/>
          <p:nvPr/>
        </p:nvSpPr>
        <p:spPr>
          <a:xfrm>
            <a:off x="841248" y="6033008"/>
            <a:ext cx="1188720" cy="256032"/>
          </a:xfrm>
          <a:prstGeom prst="rect">
            <a:avLst/>
          </a:prstGeom>
          <a:noFill/>
          <a:ln/>
        </p:spPr>
        <p:txBody>
          <a:bodyPr wrap="square" lIns="0" tIns="0" rIns="0" bIns="0" rtlCol="0" anchor="ctr"/>
          <a:lstStyle/>
          <a:p>
            <a:pPr marL="0" indent="0">
              <a:buNone/>
            </a:pPr>
            <a:r>
              <a:rPr lang="en-US" sz="1600" b="1" dirty="0">
                <a:solidFill>
                  <a:srgbClr val="10333F"/>
                </a:solidFill>
                <a:latin typeface="Cambria" panose="02040503050406030204" pitchFamily="18" charset="0"/>
                <a:ea typeface="Cambria" panose="02040503050406030204" pitchFamily="18" charset="0"/>
                <a:cs typeface="Calibri" pitchFamily="34" charset="-120"/>
              </a:rPr>
              <a:t>Biggest risks:</a:t>
            </a:r>
            <a:endParaRPr lang="en-US" sz="1600" dirty="0">
              <a:latin typeface="Cambria" panose="02040503050406030204" pitchFamily="18" charset="0"/>
              <a:ea typeface="Cambria" panose="02040503050406030204" pitchFamily="18" charset="0"/>
            </a:endParaRPr>
          </a:p>
        </p:txBody>
      </p:sp>
      <p:sp>
        <p:nvSpPr>
          <p:cNvPr id="21" name="Text 19"/>
          <p:cNvSpPr txBox="1"/>
          <p:nvPr/>
        </p:nvSpPr>
        <p:spPr>
          <a:xfrm>
            <a:off x="2075688" y="5762752"/>
            <a:ext cx="9418320" cy="979424"/>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400" dirty="0">
                <a:solidFill>
                  <a:srgbClr val="1C2B31"/>
                </a:solidFill>
                <a:latin typeface="Cambria" panose="02040503050406030204" pitchFamily="18" charset="0"/>
                <a:ea typeface="Cambria" panose="02040503050406030204" pitchFamily="18" charset="0"/>
                <a:cs typeface="Calibri" pitchFamily="34" charset="-120"/>
              </a:rPr>
              <a:t>Whether a premises capture sits inside onboarding under RBI's one-time access rule is a question for counsel</a:t>
            </a:r>
          </a:p>
          <a:p>
            <a:pPr marL="285750" indent="-285750">
              <a:buFont typeface="Arial" panose="020B0604020202020204" pitchFamily="34" charset="0"/>
              <a:buChar char="•"/>
            </a:pPr>
            <a:r>
              <a:rPr lang="en-US" sz="1400" dirty="0">
                <a:solidFill>
                  <a:srgbClr val="1C2B31"/>
                </a:solidFill>
                <a:latin typeface="Cambria" panose="02040503050406030204" pitchFamily="18" charset="0"/>
                <a:ea typeface="Cambria" panose="02040503050406030204" pitchFamily="18" charset="0"/>
                <a:cs typeface="Calibri" pitchFamily="34" charset="-120"/>
              </a:rPr>
              <a:t>Thresholds tuned on metro pilot data will silently exclude tier-3 users</a:t>
            </a:r>
          </a:p>
          <a:p>
            <a:pPr marL="285750" indent="-285750">
              <a:buFont typeface="Arial" panose="020B0604020202020204" pitchFamily="34" charset="0"/>
              <a:buChar char="•"/>
            </a:pPr>
            <a:r>
              <a:rPr lang="en-US" sz="1400" dirty="0">
                <a:solidFill>
                  <a:srgbClr val="1C2B31"/>
                </a:solidFill>
                <a:latin typeface="Cambria" panose="02040503050406030204" pitchFamily="18" charset="0"/>
                <a:ea typeface="Cambria" panose="02040503050406030204" pitchFamily="18" charset="0"/>
                <a:cs typeface="Calibri" pitchFamily="34" charset="-120"/>
              </a:rPr>
              <a:t>One auto-cleared fraud loss will create pressure to reinstate human review, so agree the loss tolerance with Risk in writing before launch.</a:t>
            </a:r>
            <a:endParaRPr lang="en-US" sz="1400"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28870-D2A3-2675-D3FA-4D8FB903324D}"/>
            </a:ext>
          </a:extLst>
        </p:cNvPr>
        <p:cNvGrpSpPr/>
        <p:nvPr/>
      </p:nvGrpSpPr>
      <p:grpSpPr>
        <a:xfrm>
          <a:off x="0" y="0"/>
          <a:ext cx="0" cy="0"/>
          <a:chOff x="0" y="0"/>
          <a:chExt cx="0" cy="0"/>
        </a:xfrm>
      </p:grpSpPr>
      <p:sp>
        <p:nvSpPr>
          <p:cNvPr id="23" name="Text 12">
            <a:extLst>
              <a:ext uri="{FF2B5EF4-FFF2-40B4-BE49-F238E27FC236}">
                <a16:creationId xmlns:a16="http://schemas.microsoft.com/office/drawing/2014/main" id="{1B2F61A5-D59B-4231-98BA-1610A8AD7064}"/>
              </a:ext>
            </a:extLst>
          </p:cNvPr>
          <p:cNvSpPr txBox="1"/>
          <p:nvPr/>
        </p:nvSpPr>
        <p:spPr>
          <a:xfrm>
            <a:off x="0" y="2637536"/>
            <a:ext cx="12192000" cy="1582928"/>
          </a:xfrm>
          <a:prstGeom prst="rect">
            <a:avLst/>
          </a:prstGeom>
          <a:noFill/>
          <a:ln/>
        </p:spPr>
        <p:txBody>
          <a:bodyPr wrap="square" lIns="0" tIns="0" rIns="0" bIns="0" rtlCol="0" anchor="ctr"/>
          <a:lstStyle/>
          <a:p>
            <a:pPr marL="0" indent="0" algn="ctr">
              <a:buNone/>
            </a:pPr>
            <a:r>
              <a:rPr lang="en-US" sz="6000" dirty="0" err="1">
                <a:latin typeface="Cambria" panose="02040503050406030204" pitchFamily="18" charset="0"/>
                <a:ea typeface="Cambria" panose="02040503050406030204" pitchFamily="18" charset="0"/>
                <a:cs typeface="Calibri" pitchFamily="34" charset="-120"/>
                <a:hlinkClick r:id="rId3"/>
              </a:rPr>
              <a:t>Working_prototype_link</a:t>
            </a:r>
            <a:endParaRPr lang="en-US" sz="6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4682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3EAC-75B9-BFF4-163C-5B68957CB5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51099C-86C1-1D52-3687-567FE0517A5E}"/>
              </a:ext>
            </a:extLst>
          </p:cNvPr>
          <p:cNvSpPr txBox="1"/>
          <p:nvPr/>
        </p:nvSpPr>
        <p:spPr>
          <a:xfrm>
            <a:off x="0" y="2715768"/>
            <a:ext cx="12263120" cy="1426464"/>
          </a:xfrm>
          <a:prstGeom prst="rect">
            <a:avLst/>
          </a:prstGeom>
          <a:solidFill>
            <a:srgbClr val="002060"/>
          </a:solidFill>
          <a:ln/>
        </p:spPr>
        <p:txBody>
          <a:bodyPr wrap="square" lIns="0" tIns="0" rIns="0" bIns="0" rtlCol="0" anchor="ctr"/>
          <a:lstStyle/>
          <a:p>
            <a:pPr marL="0" indent="0" algn="ctr">
              <a:buNone/>
            </a:pPr>
            <a:r>
              <a:rPr lang="en-US" sz="6000" b="1" dirty="0">
                <a:solidFill>
                  <a:schemeClr val="bg1"/>
                </a:solidFill>
                <a:latin typeface="Cambria" pitchFamily="34" charset="0"/>
                <a:ea typeface="Cambria" pitchFamily="34" charset="-122"/>
                <a:cs typeface="Cambria" pitchFamily="34" charset="-120"/>
              </a:rPr>
              <a:t>THANK YOU!</a:t>
            </a:r>
            <a:endParaRPr lang="en-US" sz="6000" dirty="0">
              <a:solidFill>
                <a:schemeClr val="bg1"/>
              </a:solidFill>
            </a:endParaRPr>
          </a:p>
        </p:txBody>
      </p:sp>
    </p:spTree>
    <p:extLst>
      <p:ext uri="{BB962C8B-B14F-4D97-AF65-F5344CB8AC3E}">
        <p14:creationId xmlns:p14="http://schemas.microsoft.com/office/powerpoint/2010/main" val="552268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Appendix A — what the lender already holds on address</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Only the KYC row is mandated by RBI. Everything else is credit policy, and none of it confirms presence.</a:t>
            </a:r>
            <a:endParaRPr lang="en-US" sz="1400" dirty="0">
              <a:latin typeface="Cambria" panose="02040503050406030204" pitchFamily="18" charset="0"/>
              <a:ea typeface="Cambria" panose="02040503050406030204" pitchFamily="18" charset="0"/>
            </a:endParaRPr>
          </a:p>
        </p:txBody>
      </p:sp>
      <p:graphicFrame>
        <p:nvGraphicFramePr>
          <p:cNvPr id="9" name="Table 0"/>
          <p:cNvGraphicFramePr>
            <a:graphicFrameLocks noGrp="1"/>
          </p:cNvGraphicFramePr>
          <p:nvPr>
            <p:extLst>
              <p:ext uri="{D42A27DB-BD31-4B8C-83A1-F6EECF244321}">
                <p14:modId xmlns:p14="http://schemas.microsoft.com/office/powerpoint/2010/main" val="2435109594"/>
              </p:ext>
            </p:extLst>
          </p:nvPr>
        </p:nvGraphicFramePr>
        <p:xfrm>
          <a:off x="566928" y="1371600"/>
          <a:ext cx="11064240" cy="3920744"/>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274320">
                <a:tc>
                  <a:txBody>
                    <a:bodyP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Borrower</a:t>
                      </a:r>
                      <a:endParaRPr lang="en-US" sz="16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Documents the lender typically holds</a:t>
                      </a:r>
                      <a:endParaRPr lang="en-US" sz="16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What it establishes about address</a:t>
                      </a:r>
                      <a:endParaRPr lang="en-US" sz="16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Weakness</a:t>
                      </a:r>
                      <a:endParaRPr lang="en-US" sz="16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Ravi</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Salaried, rented flat</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OVD (Aadhaar or DL), PAN, salary slips, bank statement, rent agreement, employer letter</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Aadhaar address; bureau history from other lenders; employer-declared address</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5A6B70"/>
                          </a:solidFill>
                          <a:latin typeface="Cambria" panose="02040503050406030204" pitchFamily="18" charset="0"/>
                          <a:ea typeface="Cambria" panose="02040503050406030204" pitchFamily="18" charset="0"/>
                          <a:cs typeface="Calibri" pitchFamily="34" charset="-120"/>
                        </a:rPr>
                        <a:t>Aadhaar stale after a move. Rent agreements notarised without verification</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Sunita</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Self-employed, shop</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OVD, PAN, GSTIN, Udyam, Shop &amp; Establishment licence, bank statement, ITR</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Registered principal place of business; trade name; licence address</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5A6B70"/>
                          </a:solidFill>
                          <a:latin typeface="Cambria" panose="02040503050406030204" pitchFamily="18" charset="0"/>
                          <a:ea typeface="Cambria" panose="02040503050406030204" pitchFamily="18" charset="0"/>
                          <a:cs typeface="Calibri" pitchFamily="34" charset="-120"/>
                        </a:rPr>
                        <a:t>Registered address is often the accountant's office, not the operating premises</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Ganesh</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Self-employed, no premises</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OVD, PAN, driver or platform partner ID, vehicle permit, bank statement</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Residence only. No workplace address exists to verify</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5A6B70"/>
                          </a:solidFill>
                          <a:latin typeface="Cambria" panose="02040503050406030204" pitchFamily="18" charset="0"/>
                          <a:ea typeface="Cambria" panose="02040503050406030204" pitchFamily="18" charset="0"/>
                          <a:cs typeface="Calibri" pitchFamily="34" charset="-120"/>
                        </a:rPr>
                        <a:t>Thin file. Often no bureau history and no registration at all</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Meera</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Home-based business</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OVD, PAN, Udyam, bank statement. Rarely a separate premises document</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One address serving as both home and business</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5A6B70"/>
                          </a:solidFill>
                          <a:latin typeface="Cambria" panose="02040503050406030204" pitchFamily="18" charset="0"/>
                          <a:ea typeface="Cambria" panose="02040503050406030204" pitchFamily="18" charset="0"/>
                          <a:cs typeface="Calibri" pitchFamily="34" charset="-120"/>
                        </a:rPr>
                        <a:t>Two declared fields, one place. Bills usually in a family member's name</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Bhaskar</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Rural, low digital confidence</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OVD (Aadhaar or NREGA job card), PAN or Form 60, land record, passbook</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Aadhaar address, comparatively reliable here - rural migration is low</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5A6B70"/>
                          </a:solidFill>
                          <a:latin typeface="Cambria" panose="02040503050406030204" pitchFamily="18" charset="0"/>
                          <a:ea typeface="Cambria" panose="02040503050406030204" pitchFamily="18" charset="0"/>
                          <a:cs typeface="Calibri" pitchFamily="34" charset="-120"/>
                        </a:rPr>
                        <a:t>Landmark-based address; cannot be geocoded below village level</a:t>
                      </a:r>
                      <a:endParaRPr lang="en-US" sz="1200" dirty="0">
                        <a:latin typeface="Cambria" panose="02040503050406030204" pitchFamily="18" charset="0"/>
                        <a:ea typeface="Cambria" panose="02040503050406030204" pitchFamily="18" charset="0"/>
                        <a:cs typeface="Calibri" charset="0"/>
                      </a:endParaRPr>
                    </a:p>
                  </a:txBody>
                  <a:tcPr marL="63500" marR="63500" marT="63500" marB="635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532384" y="5559552"/>
            <a:ext cx="11057839" cy="1133856"/>
          </a:xfrm>
          <a:prstGeom prst="roundRect">
            <a:avLst>
              <a:gd name="adj" fmla="val 6452"/>
            </a:avLst>
          </a:prstGeom>
          <a:solidFill>
            <a:srgbClr val="EDF1F1"/>
          </a:solidFill>
          <a:ln/>
        </p:spPr>
      </p:sp>
      <p:sp>
        <p:nvSpPr>
          <p:cNvPr id="6" name="Text 3"/>
          <p:cNvSpPr txBox="1"/>
          <p:nvPr/>
        </p:nvSpPr>
        <p:spPr>
          <a:xfrm>
            <a:off x="770128" y="5641848"/>
            <a:ext cx="2743200" cy="237744"/>
          </a:xfrm>
          <a:prstGeom prst="rect">
            <a:avLst/>
          </a:prstGeom>
          <a:noFill/>
          <a:ln/>
        </p:spPr>
        <p:txBody>
          <a:bodyPr wrap="square" lIns="0" tIns="0" rIns="0" bIns="0" rtlCol="0" anchor="ctr"/>
          <a:lstStyle/>
          <a:p>
            <a:pPr marL="0" indent="0">
              <a:buNone/>
            </a:pPr>
            <a:r>
              <a:rPr lang="en-US" sz="1400" b="1" dirty="0">
                <a:solidFill>
                  <a:srgbClr val="10333F"/>
                </a:solidFill>
                <a:latin typeface="Cambria" panose="02040503050406030204" pitchFamily="18" charset="0"/>
                <a:ea typeface="Cambria" panose="02040503050406030204" pitchFamily="18" charset="0"/>
                <a:cs typeface="Calibri" pitchFamily="34" charset="-120"/>
              </a:rPr>
              <a:t>Authoritative sources</a:t>
            </a:r>
            <a:endParaRPr lang="en-US" sz="1400" dirty="0">
              <a:latin typeface="Cambria" panose="02040503050406030204" pitchFamily="18" charset="0"/>
              <a:ea typeface="Cambria" panose="02040503050406030204" pitchFamily="18" charset="0"/>
            </a:endParaRPr>
          </a:p>
        </p:txBody>
      </p:sp>
      <p:sp>
        <p:nvSpPr>
          <p:cNvPr id="7" name="Text 4"/>
          <p:cNvSpPr txBox="1"/>
          <p:nvPr/>
        </p:nvSpPr>
        <p:spPr>
          <a:xfrm>
            <a:off x="770128" y="5961888"/>
            <a:ext cx="2651760" cy="274320"/>
          </a:xfrm>
          <a:prstGeom prst="rect">
            <a:avLst/>
          </a:prstGeom>
          <a:noFill/>
          <a:ln/>
        </p:spPr>
        <p:txBody>
          <a:bodyPr wrap="square" lIns="0" tIns="0" rIns="0" bIns="0" rtlCol="0" anchor="ctr"/>
          <a:lstStyle/>
          <a:p>
            <a:pPr marL="0" indent="0">
              <a:buNone/>
            </a:pPr>
            <a:r>
              <a:rPr lang="en-US" sz="950" u="sng" dirty="0">
                <a:solidFill>
                  <a:srgbClr val="0B63CE"/>
                </a:solidFill>
                <a:latin typeface="Cambria" panose="02040503050406030204" pitchFamily="18" charset="0"/>
                <a:ea typeface="Cambria" panose="02040503050406030204" pitchFamily="18" charset="0"/>
                <a:cs typeface="Calibri" pitchFamily="34" charset="-120"/>
                <a:hlinkClick r:id="rId3">
                  <a:extLst>
                    <a:ext uri="{A12FA001-AC4F-418D-AE19-62706E023703}">
                      <ahyp:hlinkClr xmlns:ahyp="http://schemas.microsoft.com/office/drawing/2018/hyperlinkcolor" val="tx"/>
                    </a:ext>
                  </a:extLst>
                </a:hlinkClick>
              </a:rPr>
              <a:t>RBI Master Directions (NBFC KYC, 2025)</a:t>
            </a:r>
            <a:endParaRPr lang="en-US" sz="950" dirty="0">
              <a:latin typeface="Cambria" panose="02040503050406030204" pitchFamily="18" charset="0"/>
              <a:ea typeface="Cambria" panose="02040503050406030204" pitchFamily="18" charset="0"/>
            </a:endParaRPr>
          </a:p>
        </p:txBody>
      </p:sp>
      <p:sp>
        <p:nvSpPr>
          <p:cNvPr id="8" name="Text 5"/>
          <p:cNvSpPr txBox="1"/>
          <p:nvPr/>
        </p:nvSpPr>
        <p:spPr>
          <a:xfrm>
            <a:off x="3513328" y="5961888"/>
            <a:ext cx="2651760" cy="274320"/>
          </a:xfrm>
          <a:prstGeom prst="rect">
            <a:avLst/>
          </a:prstGeom>
          <a:noFill/>
          <a:ln/>
        </p:spPr>
        <p:txBody>
          <a:bodyPr wrap="square" lIns="0" tIns="0" rIns="0" bIns="0" rtlCol="0" anchor="ctr"/>
          <a:lstStyle/>
          <a:p>
            <a:pPr marL="0" indent="0">
              <a:buNone/>
            </a:pPr>
            <a:r>
              <a:rPr lang="en-US" sz="950" u="sng" dirty="0">
                <a:solidFill>
                  <a:schemeClr val="accent1"/>
                </a:solidFill>
                <a:latin typeface="Cambria" panose="02040503050406030204" pitchFamily="18" charset="0"/>
                <a:ea typeface="Cambria" panose="02040503050406030204" pitchFamily="18" charset="0"/>
                <a:cs typeface="Calibri" pitchFamily="34" charset="-120"/>
                <a:hlinkClick r:id="rId4">
                  <a:extLst>
                    <a:ext uri="{A12FA001-AC4F-418D-AE19-62706E023703}">
                      <ahyp:hlinkClr xmlns:ahyp="http://schemas.microsoft.com/office/drawing/2018/hyperlinkcolor" val="tx"/>
                    </a:ext>
                  </a:extLst>
                </a:hlinkClick>
              </a:rPr>
              <a:t>CPV</a:t>
            </a:r>
            <a:endParaRPr lang="en-US" sz="950" dirty="0">
              <a:solidFill>
                <a:schemeClr val="accent1"/>
              </a:solidFill>
              <a:latin typeface="Cambria" panose="02040503050406030204" pitchFamily="18" charset="0"/>
              <a:ea typeface="Cambria" panose="02040503050406030204" pitchFamily="18" charset="0"/>
            </a:endParaRPr>
          </a:p>
        </p:txBody>
      </p:sp>
      <p:sp>
        <p:nvSpPr>
          <p:cNvPr id="4" name="Text 6"/>
          <p:cNvSpPr txBox="1"/>
          <p:nvPr/>
        </p:nvSpPr>
        <p:spPr>
          <a:xfrm>
            <a:off x="6256528" y="5961888"/>
            <a:ext cx="2651760" cy="274320"/>
          </a:xfrm>
          <a:prstGeom prst="rect">
            <a:avLst/>
          </a:prstGeom>
          <a:noFill/>
          <a:ln/>
        </p:spPr>
        <p:txBody>
          <a:bodyPr wrap="square" lIns="0" tIns="0" rIns="0" bIns="0" rtlCol="0" anchor="ctr"/>
          <a:lstStyle/>
          <a:p>
            <a:pPr marL="0" indent="0">
              <a:buNone/>
            </a:pPr>
            <a:r>
              <a:rPr lang="en-US" sz="950" u="sng" dirty="0">
                <a:solidFill>
                  <a:schemeClr val="accent1"/>
                </a:solidFill>
                <a:latin typeface="Cambria" panose="02040503050406030204" pitchFamily="18" charset="0"/>
                <a:ea typeface="Cambria" panose="02040503050406030204" pitchFamily="18" charset="0"/>
                <a:cs typeface="Calibri" pitchFamily="34" charset="-120"/>
                <a:hlinkClick r:id="rId5">
                  <a:extLst>
                    <a:ext uri="{A12FA001-AC4F-418D-AE19-62706E023703}">
                      <ahyp:hlinkClr xmlns:ahyp="http://schemas.microsoft.com/office/drawing/2018/hyperlinkcolor" val="tx"/>
                    </a:ext>
                  </a:extLst>
                </a:hlinkClick>
              </a:rPr>
              <a:t>Bajaj </a:t>
            </a:r>
            <a:r>
              <a:rPr lang="en-US" sz="950" u="sng" dirty="0" err="1">
                <a:solidFill>
                  <a:schemeClr val="accent1"/>
                </a:solidFill>
                <a:latin typeface="Cambria" panose="02040503050406030204" pitchFamily="18" charset="0"/>
                <a:ea typeface="Cambria" panose="02040503050406030204" pitchFamily="18" charset="0"/>
                <a:cs typeface="Calibri" pitchFamily="34" charset="-120"/>
                <a:hlinkClick r:id="rId5">
                  <a:extLst>
                    <a:ext uri="{A12FA001-AC4F-418D-AE19-62706E023703}">
                      <ahyp:hlinkClr xmlns:ahyp="http://schemas.microsoft.com/office/drawing/2018/hyperlinkcolor" val="tx"/>
                    </a:ext>
                  </a:extLst>
                </a:hlinkClick>
              </a:rPr>
              <a:t>Finserv</a:t>
            </a:r>
            <a:endParaRPr lang="en-US" sz="950" dirty="0">
              <a:solidFill>
                <a:schemeClr val="accent1"/>
              </a:solidFill>
              <a:latin typeface="Cambria" panose="02040503050406030204" pitchFamily="18" charset="0"/>
              <a:ea typeface="Cambria" panose="02040503050406030204" pitchFamily="18" charset="0"/>
            </a:endParaRPr>
          </a:p>
        </p:txBody>
      </p:sp>
      <p:sp>
        <p:nvSpPr>
          <p:cNvPr id="10" name="Text 7"/>
          <p:cNvSpPr txBox="1"/>
          <p:nvPr/>
        </p:nvSpPr>
        <p:spPr>
          <a:xfrm>
            <a:off x="8999728" y="5961888"/>
            <a:ext cx="2651760" cy="274320"/>
          </a:xfrm>
          <a:prstGeom prst="rect">
            <a:avLst/>
          </a:prstGeom>
          <a:noFill/>
          <a:ln/>
        </p:spPr>
        <p:txBody>
          <a:bodyPr wrap="square" lIns="0" tIns="0" rIns="0" bIns="0" rtlCol="0" anchor="ctr"/>
          <a:lstStyle/>
          <a:p>
            <a:pPr marL="0" indent="0">
              <a:buNone/>
            </a:pPr>
            <a:r>
              <a:rPr lang="en-US" sz="950" u="sng" dirty="0">
                <a:solidFill>
                  <a:schemeClr val="accent1"/>
                </a:solidFill>
                <a:latin typeface="Cambria" panose="02040503050406030204" pitchFamily="18" charset="0"/>
                <a:ea typeface="Cambria" panose="02040503050406030204" pitchFamily="18" charset="0"/>
                <a:cs typeface="Calibri" pitchFamily="34" charset="-120"/>
              </a:rPr>
              <a:t>Central </a:t>
            </a:r>
            <a:r>
              <a:rPr lang="en-US" sz="950" u="sng" dirty="0">
                <a:solidFill>
                  <a:schemeClr val="accent1"/>
                </a:solidFill>
                <a:latin typeface="Cambria" panose="02040503050406030204" pitchFamily="18" charset="0"/>
                <a:ea typeface="Cambria" panose="02040503050406030204" pitchFamily="18" charset="0"/>
                <a:cs typeface="Calibri" pitchFamily="34" charset="-120"/>
                <a:hlinkClick r:id="rId6">
                  <a:extLst>
                    <a:ext uri="{A12FA001-AC4F-418D-AE19-62706E023703}">
                      <ahyp:hlinkClr xmlns:ahyp="http://schemas.microsoft.com/office/drawing/2018/hyperlinkcolor" val="tx"/>
                    </a:ext>
                  </a:extLst>
                </a:hlinkClick>
              </a:rPr>
              <a:t>KYC</a:t>
            </a:r>
            <a:r>
              <a:rPr lang="en-US" sz="950" u="sng" dirty="0">
                <a:solidFill>
                  <a:schemeClr val="accent1"/>
                </a:solidFill>
                <a:latin typeface="Cambria" panose="02040503050406030204" pitchFamily="18" charset="0"/>
                <a:ea typeface="Cambria" panose="02040503050406030204" pitchFamily="18" charset="0"/>
                <a:cs typeface="Calibri" pitchFamily="34" charset="-120"/>
              </a:rPr>
              <a:t> Registry</a:t>
            </a:r>
            <a:endParaRPr lang="en-US" sz="950" dirty="0">
              <a:solidFill>
                <a:schemeClr val="accent1"/>
              </a:solidFill>
              <a:latin typeface="Cambria" panose="02040503050406030204" pitchFamily="18" charset="0"/>
              <a:ea typeface="Cambria" panose="02040503050406030204" pitchFamily="18" charset="0"/>
            </a:endParaRPr>
          </a:p>
        </p:txBody>
      </p:sp>
      <p:sp>
        <p:nvSpPr>
          <p:cNvPr id="12" name="Text 9"/>
          <p:cNvSpPr txBox="1"/>
          <p:nvPr/>
        </p:nvSpPr>
        <p:spPr>
          <a:xfrm>
            <a:off x="3513328" y="6272784"/>
            <a:ext cx="2651760" cy="274320"/>
          </a:xfrm>
          <a:prstGeom prst="rect">
            <a:avLst/>
          </a:prstGeom>
          <a:noFill/>
          <a:ln/>
        </p:spPr>
        <p:txBody>
          <a:bodyPr wrap="square" lIns="0" tIns="0" rIns="0" bIns="0" rtlCol="0" anchor="ctr"/>
          <a:lstStyle/>
          <a:p>
            <a:pPr marL="0" indent="0">
              <a:buNone/>
            </a:pPr>
            <a:r>
              <a:rPr lang="en-US" sz="950" u="sng" dirty="0" err="1">
                <a:solidFill>
                  <a:schemeClr val="accent1"/>
                </a:solidFill>
                <a:latin typeface="Cambria" panose="02040503050406030204" pitchFamily="18" charset="0"/>
                <a:ea typeface="Cambria" panose="02040503050406030204" pitchFamily="18" charset="0"/>
                <a:cs typeface="Calibri" pitchFamily="34" charset="-120"/>
              </a:rPr>
              <a:t>Authbridge</a:t>
            </a:r>
            <a:r>
              <a:rPr lang="en-US" sz="950" u="sng" dirty="0">
                <a:solidFill>
                  <a:schemeClr val="accent1"/>
                </a:solidFill>
                <a:latin typeface="Cambria" panose="02040503050406030204" pitchFamily="18" charset="0"/>
                <a:ea typeface="Cambria" panose="02040503050406030204" pitchFamily="18" charset="0"/>
                <a:cs typeface="Calibri" pitchFamily="34" charset="-120"/>
              </a:rPr>
              <a:t> </a:t>
            </a:r>
            <a:r>
              <a:rPr lang="en-US" sz="950" u="sng" dirty="0">
                <a:solidFill>
                  <a:schemeClr val="accent1"/>
                </a:solidFill>
                <a:latin typeface="Cambria" panose="02040503050406030204" pitchFamily="18" charset="0"/>
                <a:ea typeface="Cambria" panose="02040503050406030204" pitchFamily="18" charset="0"/>
                <a:cs typeface="Calibri" pitchFamily="34" charset="-120"/>
                <a:hlinkClick r:id="rId7">
                  <a:extLst>
                    <a:ext uri="{A12FA001-AC4F-418D-AE19-62706E023703}">
                      <ahyp:hlinkClr xmlns:ahyp="http://schemas.microsoft.com/office/drawing/2018/hyperlinkcolor" val="tx"/>
                    </a:ext>
                  </a:extLst>
                </a:hlinkClick>
              </a:rPr>
              <a:t>Digital</a:t>
            </a:r>
            <a:r>
              <a:rPr lang="en-US" sz="950" u="sng" dirty="0">
                <a:solidFill>
                  <a:schemeClr val="accent1"/>
                </a:solidFill>
                <a:latin typeface="Cambria" panose="02040503050406030204" pitchFamily="18" charset="0"/>
                <a:ea typeface="Cambria" panose="02040503050406030204" pitchFamily="18" charset="0"/>
                <a:cs typeface="Calibri" pitchFamily="34" charset="-120"/>
              </a:rPr>
              <a:t> Address verification</a:t>
            </a:r>
            <a:endParaRPr lang="en-US" sz="950" dirty="0">
              <a:solidFill>
                <a:schemeClr val="accent1"/>
              </a:solidFill>
              <a:latin typeface="Cambria" panose="02040503050406030204" pitchFamily="18" charset="0"/>
              <a:ea typeface="Cambria" panose="02040503050406030204" pitchFamily="18" charset="0"/>
            </a:endParaRPr>
          </a:p>
        </p:txBody>
      </p:sp>
      <p:sp>
        <p:nvSpPr>
          <p:cNvPr id="13" name="Text 10"/>
          <p:cNvSpPr txBox="1"/>
          <p:nvPr/>
        </p:nvSpPr>
        <p:spPr>
          <a:xfrm>
            <a:off x="6256528" y="6272784"/>
            <a:ext cx="2651760" cy="274320"/>
          </a:xfrm>
          <a:prstGeom prst="rect">
            <a:avLst/>
          </a:prstGeom>
          <a:noFill/>
          <a:ln/>
        </p:spPr>
        <p:txBody>
          <a:bodyPr wrap="square" lIns="0" tIns="0" rIns="0" bIns="0" rtlCol="0" anchor="ctr"/>
          <a:lstStyle/>
          <a:p>
            <a:pPr marL="0" indent="0">
              <a:buNone/>
            </a:pPr>
            <a:r>
              <a:rPr lang="en-US" sz="950" u="sng" dirty="0">
                <a:solidFill>
                  <a:schemeClr val="accent1"/>
                </a:solidFill>
                <a:latin typeface="Cambria" panose="02040503050406030204" pitchFamily="18" charset="0"/>
                <a:ea typeface="Cambria" panose="02040503050406030204" pitchFamily="18" charset="0"/>
                <a:cs typeface="Calibri" pitchFamily="34" charset="-120"/>
                <a:hlinkClick r:id="rId8">
                  <a:extLst>
                    <a:ext uri="{A12FA001-AC4F-418D-AE19-62706E023703}">
                      <ahyp:hlinkClr xmlns:ahyp="http://schemas.microsoft.com/office/drawing/2018/hyperlinkcolor" val="tx"/>
                    </a:ext>
                  </a:extLst>
                </a:hlinkClick>
              </a:rPr>
              <a:t>India Post DIGIPIN</a:t>
            </a:r>
            <a:endParaRPr lang="en-US" sz="950" dirty="0">
              <a:solidFill>
                <a:schemeClr val="accent1"/>
              </a:solidFill>
              <a:latin typeface="Cambria" panose="02040503050406030204" pitchFamily="18" charset="0"/>
              <a:ea typeface="Cambria" panose="02040503050406030204" pitchFamily="18" charset="0"/>
            </a:endParaRPr>
          </a:p>
        </p:txBody>
      </p:sp>
      <p:sp>
        <p:nvSpPr>
          <p:cNvPr id="14" name="Text 11"/>
          <p:cNvSpPr txBox="1"/>
          <p:nvPr/>
        </p:nvSpPr>
        <p:spPr>
          <a:xfrm>
            <a:off x="770128" y="6250432"/>
            <a:ext cx="2651760" cy="274320"/>
          </a:xfrm>
          <a:prstGeom prst="rect">
            <a:avLst/>
          </a:prstGeom>
          <a:noFill/>
          <a:ln/>
        </p:spPr>
        <p:txBody>
          <a:bodyPr wrap="square" lIns="0" tIns="0" rIns="0" bIns="0" rtlCol="0" anchor="ctr"/>
          <a:lstStyle/>
          <a:p>
            <a:pPr marL="0" indent="0">
              <a:buNone/>
            </a:pPr>
            <a:r>
              <a:rPr lang="en-US" sz="950" u="sng" dirty="0">
                <a:solidFill>
                  <a:srgbClr val="0B63CE"/>
                </a:solidFill>
                <a:latin typeface="Cambria" panose="02040503050406030204" pitchFamily="18" charset="0"/>
                <a:ea typeface="Cambria" panose="02040503050406030204" pitchFamily="18" charset="0"/>
                <a:cs typeface="Calibri" pitchFamily="34" charset="-120"/>
                <a:hlinkClick r:id="rId9">
                  <a:extLst>
                    <a:ext uri="{A12FA001-AC4F-418D-AE19-62706E023703}">
                      <ahyp:hlinkClr xmlns:ahyp="http://schemas.microsoft.com/office/drawing/2018/hyperlinkcolor" val="tx"/>
                    </a:ext>
                  </a:extLst>
                </a:hlinkClick>
              </a:rPr>
              <a:t>DIGIPIN programme page</a:t>
            </a:r>
            <a:endParaRPr lang="en-US" sz="95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Appendix B — residential premises types</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One journey, but the evidence that carries the weight changes with the building.</a:t>
            </a:r>
            <a:endParaRPr lang="en-US" sz="1400" dirty="0">
              <a:latin typeface="Cambria" panose="02040503050406030204" pitchFamily="18" charset="0"/>
              <a:ea typeface="Cambria" panose="02040503050406030204" pitchFamily="18" charset="0"/>
            </a:endParaRPr>
          </a:p>
        </p:txBody>
      </p:sp>
      <p:graphicFrame>
        <p:nvGraphicFramePr>
          <p:cNvPr id="10" name="Table 0"/>
          <p:cNvGraphicFramePr>
            <a:graphicFrameLocks noGrp="1"/>
          </p:cNvGraphicFramePr>
          <p:nvPr>
            <p:extLst>
              <p:ext uri="{D42A27DB-BD31-4B8C-83A1-F6EECF244321}">
                <p14:modId xmlns:p14="http://schemas.microsoft.com/office/powerpoint/2010/main" val="2427218208"/>
              </p:ext>
            </p:extLst>
          </p:nvPr>
        </p:nvGraphicFramePr>
        <p:xfrm>
          <a:off x="566928" y="1371600"/>
          <a:ext cx="11064240" cy="4821936"/>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658368">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Premises type</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What is captured</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Where it breaks</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Design response</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Gated society tower</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Metro apartment</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Flat door plate, then lift lobby or tower entrance with tower letter visible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Address geocodes to the society gate. Guards block access. No vertical GPS resolution</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Tight ring around a street-level geocode. Tower and flat number read by OCR, not inferred from coordinates</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Standalone house</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Metro or tier-2</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House number plate, gate, one wide street frame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Few. This is the easy case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Baseline journey. Highest confidence tier available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Dense urban colony</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Unplanned, gali-numbered</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House number, gali marker, wide frame showing the lane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Geocode lands on a colony centroid, hundreds of metres out. Numbering repeats across blocks</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Wide ring. Coordinate contributes little; the OCR read and portfolio clustering carry the score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Chawl or shared</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multi-storey</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Room number, corridor, building frontage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Hundreds of households inside the GPS error radius. Floors indistinguishable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Location signal weighted down, not loosened. Building-level confidence is stated as the ceiling</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Rural village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House frontage, any nameplate, the landmark named in the address</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No house number. Address is landmark-based. Geocode resolves only to a PIN centroid</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No ring at all. Village polygon plus mapped landmark. The pin becomes the address for collections</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5"/>
                  </a:ext>
                </a:extLst>
              </a:tr>
              <a:tr h="65836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Rented, PG or shared</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room</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Building entrance and room or flat number. No claim of ownership</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No utility bill or property paper in the borrower's name. Aadhaar almost always stale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Documents scored, never gated. Presence is what is being evidenced, not tenure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11057839" cy="566928"/>
          </a:xfrm>
          <a:prstGeom prst="rect">
            <a:avLst/>
          </a:prstGeom>
          <a:noFill/>
          <a:ln/>
        </p:spPr>
        <p:txBody>
          <a:bodyPr wrap="square" lIns="0" tIns="0" rIns="0" bIns="0" rtlCol="0" anchor="ctr"/>
          <a:lstStyle/>
          <a:p>
            <a:pPr marL="0" indent="0">
              <a:buNone/>
            </a:pPr>
            <a:r>
              <a:rPr lang="en-US" sz="3000" b="1" dirty="0">
                <a:solidFill>
                  <a:srgbClr val="10333F"/>
                </a:solidFill>
                <a:latin typeface="Cambria" panose="02040503050406030204" pitchFamily="18" charset="0"/>
                <a:ea typeface="Cambria" panose="02040503050406030204" pitchFamily="18" charset="0"/>
                <a:cs typeface="Cambria" pitchFamily="34" charset="-120"/>
              </a:rPr>
              <a:t>Appendix C — business and work premises types</a:t>
            </a:r>
            <a:endParaRPr lang="en-US" sz="3000" dirty="0">
              <a:latin typeface="Cambria" panose="02040503050406030204" pitchFamily="18" charset="0"/>
              <a:ea typeface="Cambria" panose="02040503050406030204" pitchFamily="18" charset="0"/>
            </a:endParaRPr>
          </a:p>
        </p:txBody>
      </p:sp>
      <p:sp>
        <p:nvSpPr>
          <p:cNvPr id="3" name="Text 1"/>
          <p:cNvSpPr txBox="1"/>
          <p:nvPr/>
        </p:nvSpPr>
        <p:spPr>
          <a:xfrm>
            <a:off x="566928" y="932688"/>
            <a:ext cx="11057839" cy="310896"/>
          </a:xfrm>
          <a:prstGeom prst="rect">
            <a:avLst/>
          </a:prstGeom>
          <a:noFill/>
          <a:ln/>
        </p:spPr>
        <p:txBody>
          <a:bodyPr wrap="square" lIns="0" tIns="0" rIns="0" bIns="0" rtlCol="0" anchor="ctr"/>
          <a:lstStyle/>
          <a:p>
            <a:pPr marL="0" indent="0">
              <a:buNone/>
            </a:pPr>
            <a:r>
              <a:rPr lang="en-US" sz="1400" dirty="0">
                <a:solidFill>
                  <a:srgbClr val="5A6B70"/>
                </a:solidFill>
                <a:latin typeface="Cambria" panose="02040503050406030204" pitchFamily="18" charset="0"/>
                <a:ea typeface="Cambria" panose="02040503050406030204" pitchFamily="18" charset="0"/>
                <a:cs typeface="Calibri" pitchFamily="34" charset="-120"/>
              </a:rPr>
              <a:t>There is no authoritative source for where a small business actually operates. Verification here is presence and consistency, not correctness.</a:t>
            </a:r>
            <a:endParaRPr lang="en-US" sz="1400" dirty="0">
              <a:latin typeface="Cambria" panose="02040503050406030204" pitchFamily="18" charset="0"/>
              <a:ea typeface="Cambria" panose="02040503050406030204" pitchFamily="18" charset="0"/>
            </a:endParaRPr>
          </a:p>
        </p:txBody>
      </p:sp>
      <p:graphicFrame>
        <p:nvGraphicFramePr>
          <p:cNvPr id="11" name="Table 0"/>
          <p:cNvGraphicFramePr>
            <a:graphicFrameLocks noGrp="1"/>
          </p:cNvGraphicFramePr>
          <p:nvPr>
            <p:extLst>
              <p:ext uri="{D42A27DB-BD31-4B8C-83A1-F6EECF244321}">
                <p14:modId xmlns:p14="http://schemas.microsoft.com/office/powerpoint/2010/main" val="2599376344"/>
              </p:ext>
            </p:extLst>
          </p:nvPr>
        </p:nvGraphicFramePr>
        <p:xfrm>
          <a:off x="566928" y="1481328"/>
          <a:ext cx="11064240" cy="4498848"/>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749808">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Premises type</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What is captured</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Where it breaks</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tc>
                  <a:txBody>
                    <a:bodyP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Design response</a:t>
                      </a:r>
                      <a:endParaRPr lang="en-US" sz="1600" dirty="0">
                        <a:latin typeface="Cambria" panose="02040503050406030204" pitchFamily="18" charset="0"/>
                        <a:ea typeface="Cambria" panose="02040503050406030204" pitchFamily="18" charset="0"/>
                        <a:cs typeface="Calibri" charset="0"/>
                      </a:endParaRPr>
                    </a:p>
                  </a:txBody>
                  <a:tcPr marL="76200" marR="76200" marT="76200" marB="76200" anchor="ctr">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4980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Shop with signboard</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Market or high street</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Signboard, shopfront with shutter open, one wide frame of the lane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GST address is the accountant's office. Market lanes are unnamed on maps</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Signboard OCR matched to the trade name on GSTIN. Registered versus operating mismatch treated as expected</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Stall, cart or</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unbranded premises</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Premises frontage and surroundings. No signage to read</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Nothing to OCR. No registration of any kind for the informal segment</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NO_SIGNAGE reason code, scored one tier lower, never blocked</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Business run from home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One capture serving both declared addresses. Exterior only</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Two declared fields, one physical place. Asking twice is the friction</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Collapse auto-detected, asked once, and the customer is told they will not be asked again</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3"/>
                  </a:ext>
                </a:extLst>
              </a:tr>
              <a:tr h="74980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No fixed premises</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Driver, contractor, vendor</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Residence only. No workplace capture attempted</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The ask itself does not parse. Today the field gets filled with improvised or duplicated evidence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Alternative work anchor platform partner ID, permit, trade licence. Lower tier accepted by credit policy</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4"/>
                  </a:ext>
                </a:extLst>
              </a:tr>
              <a:tr h="749808">
                <a:tc>
                  <a:txBody>
                    <a:bodyPr/>
                    <a:lstStyle/>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Multi-site business</a:t>
                      </a:r>
                      <a:endParaRPr lang="en-US" sz="1200" dirty="0">
                        <a:latin typeface="Cambria" panose="02040503050406030204" pitchFamily="18" charset="0"/>
                        <a:ea typeface="Cambria" panose="02040503050406030204" pitchFamily="18" charset="0"/>
                        <a:cs typeface="Calibri" charset="0"/>
                      </a:endParaRPr>
                    </a:p>
                    <a:p>
                      <a:pPr marL="0" indent="0">
                        <a:buNone/>
                      </a:pPr>
                      <a:r>
                        <a:rPr lang="en-US" sz="1200" b="1" dirty="0">
                          <a:solidFill>
                            <a:srgbClr val="10333F"/>
                          </a:solidFill>
                          <a:latin typeface="Cambria" panose="02040503050406030204" pitchFamily="18" charset="0"/>
                          <a:ea typeface="Cambria" panose="02040503050406030204" pitchFamily="18" charset="0"/>
                          <a:cs typeface="Calibri" pitchFamily="34" charset="-120"/>
                        </a:rPr>
                        <a:t>Branches or factories</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Principal place of business only, unless exposure justifies more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Capturing every site is disproportionate and would not complete</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tc>
                  <a:txBody>
                    <a:bodyPr/>
                    <a:lstStyle/>
                    <a:p>
                      <a:pPr marL="0" indent="0">
                        <a:buNone/>
                      </a:pPr>
                      <a:r>
                        <a:rPr lang="en-US" sz="1200" dirty="0">
                          <a:solidFill>
                            <a:srgbClr val="1C2B31"/>
                          </a:solidFill>
                          <a:latin typeface="Cambria" panose="02040503050406030204" pitchFamily="18" charset="0"/>
                          <a:ea typeface="Cambria" panose="02040503050406030204" pitchFamily="18" charset="0"/>
                          <a:cs typeface="Calibri" pitchFamily="34" charset="-120"/>
                        </a:rPr>
                        <a:t>Verify the declared principal premises. Additional sites become a separate, exposure triggered task</a:t>
                      </a:r>
                      <a:endParaRPr lang="en-US" sz="1200" dirty="0">
                        <a:latin typeface="Cambria" panose="02040503050406030204" pitchFamily="18" charset="0"/>
                        <a:ea typeface="Cambria" panose="02040503050406030204" pitchFamily="18" charset="0"/>
                        <a:cs typeface="Calibri" charset="0"/>
                      </a:endParaRPr>
                    </a:p>
                  </a:txBody>
                  <a:tcPr marL="76200" marR="76200" marT="76200" marB="76200">
                    <a:lnL w="6350" cap="flat" cmpd="sng" algn="ctr">
                      <a:solidFill>
                        <a:srgbClr val="D6DFE1"/>
                      </a:solidFill>
                      <a:prstDash val="solid"/>
                      <a:round/>
                      <a:headEnd type="none" w="med" len="med"/>
                      <a:tailEnd type="none" w="med" len="med"/>
                    </a:lnL>
                    <a:lnR w="6350" cap="flat" cmpd="sng" algn="ctr">
                      <a:solidFill>
                        <a:srgbClr val="D6DFE1"/>
                      </a:solidFill>
                      <a:prstDash val="solid"/>
                      <a:round/>
                      <a:headEnd type="none" w="med" len="med"/>
                      <a:tailEnd type="none" w="med" len="med"/>
                    </a:lnR>
                    <a:lnT w="6350" cap="flat" cmpd="sng" algn="ctr">
                      <a:solidFill>
                        <a:srgbClr val="D6DFE1"/>
                      </a:solidFill>
                      <a:prstDash val="solid"/>
                      <a:round/>
                      <a:headEnd type="none" w="med" len="med"/>
                      <a:tailEnd type="none" w="med" len="med"/>
                    </a:lnT>
                    <a:lnB w="6350" cap="flat" cmpd="sng" algn="ctr">
                      <a:solidFill>
                        <a:srgbClr val="D6DF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1472</TotalTime>
  <Words>2810</Words>
  <Application>Microsoft Office PowerPoint</Application>
  <PresentationFormat>Widescreen</PresentationFormat>
  <Paragraphs>301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Ujjwal Padha</cp:lastModifiedBy>
  <cp:revision>7</cp:revision>
  <dcterms:created xsi:type="dcterms:W3CDTF">2026-09-07T14:25:21Z</dcterms:created>
  <dcterms:modified xsi:type="dcterms:W3CDTF">2026-09-08T15:51:07Z</dcterms:modified>
</cp:coreProperties>
</file>